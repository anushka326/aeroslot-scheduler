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fonts/font8.fntdata" ContentType="application/x-fontdata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</p:sldIdLst>
  <p:sldSz cx="18288000" cy="10287000"/>
  <p:notesSz cx="6858000" cy="9144000"/>
  <p:embeddedFontLst>
    <p:embeddedFont>
      <p:font typeface="Kabel" panose="020D0402020204020903"/>
      <p:regular r:id="rId15"/>
    </p:embeddedFont>
    <p:embeddedFont>
      <p:font typeface="Kabel Ultra-Bold" panose="020D0602020203020903"/>
      <p:bold r:id="rId16"/>
    </p:embeddedFont>
    <p:embeddedFont>
      <p:font typeface="Merriweather Bold" panose="00000800000000000000"/>
      <p:bold r:id="rId17"/>
    </p:embeddedFont>
    <p:embeddedFont>
      <p:font typeface="Merriweather" panose="00000500000000000000"/>
      <p:regular r:id="rId18"/>
    </p:embeddedFont>
    <p:embeddedFont>
      <p:font typeface="Calibri" panose="020F0502020204030204" charset="0"/>
      <p:regular r:id="rId19"/>
      <p:bold r:id="rId20"/>
      <p:italic r:id="rId21"/>
      <p:boldItalic r:id="rId2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79" userDrawn="1">
          <p15:clr>
            <a:srgbClr val="A4A3A4"/>
          </p15:clr>
        </p15:guide>
        <p15:guide id="2" pos="289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79"/>
        <p:guide pos="2898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2" Type="http://schemas.openxmlformats.org/officeDocument/2006/relationships/font" Target="fonts/font8.fntdata"/><Relationship Id="rId21" Type="http://schemas.openxmlformats.org/officeDocument/2006/relationships/font" Target="fonts/font7.fntdata"/><Relationship Id="rId20" Type="http://schemas.openxmlformats.org/officeDocument/2006/relationships/font" Target="fonts/font6.fntdata"/><Relationship Id="rId2" Type="http://schemas.openxmlformats.org/officeDocument/2006/relationships/theme" Target="theme/theme1.xml"/><Relationship Id="rId19" Type="http://schemas.openxmlformats.org/officeDocument/2006/relationships/font" Target="fonts/font5.fntdata"/><Relationship Id="rId18" Type="http://schemas.openxmlformats.org/officeDocument/2006/relationships/font" Target="fonts/font4.fntdata"/><Relationship Id="rId17" Type="http://schemas.openxmlformats.org/officeDocument/2006/relationships/font" Target="fonts/font3.fntdata"/><Relationship Id="rId16" Type="http://schemas.openxmlformats.org/officeDocument/2006/relationships/font" Target="fonts/font2.fntdata"/><Relationship Id="rId15" Type="http://schemas.openxmlformats.org/officeDocument/2006/relationships/font" Target="fonts/font1.fntdata"/><Relationship Id="rId14" Type="http://schemas.openxmlformats.org/officeDocument/2006/relationships/tableStyles" Target="tableStyles.xml"/><Relationship Id="rId13" Type="http://schemas.openxmlformats.org/officeDocument/2006/relationships/viewProps" Target="viewProps.xml"/><Relationship Id="rId12" Type="http://schemas.openxmlformats.org/officeDocument/2006/relationships/presProps" Target="presProps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7.xml"/><Relationship Id="rId8" Type="http://schemas.openxmlformats.org/officeDocument/2006/relationships/image" Target="../media/image12.png"/><Relationship Id="rId7" Type="http://schemas.openxmlformats.org/officeDocument/2006/relationships/image" Target="../media/image11.png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2F5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2528275" y="6178163"/>
            <a:ext cx="6002942" cy="4854880"/>
          </a:xfrm>
          <a:custGeom>
            <a:avLst/>
            <a:gdLst/>
            <a:ahLst/>
            <a:cxnLst/>
            <a:rect l="l" t="t" r="r" b="b"/>
            <a:pathLst>
              <a:path w="6002942" h="4854880">
                <a:moveTo>
                  <a:pt x="0" y="0"/>
                </a:moveTo>
                <a:lnTo>
                  <a:pt x="6002943" y="0"/>
                </a:lnTo>
                <a:lnTo>
                  <a:pt x="6002943" y="4854880"/>
                </a:lnTo>
                <a:lnTo>
                  <a:pt x="0" y="4854880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7022952" y="-1891134"/>
            <a:ext cx="14395802" cy="4583179"/>
          </a:xfrm>
          <a:custGeom>
            <a:avLst/>
            <a:gdLst/>
            <a:ahLst/>
            <a:cxnLst/>
            <a:rect l="l" t="t" r="r" b="b"/>
            <a:pathLst>
              <a:path w="14395802" h="4583179">
                <a:moveTo>
                  <a:pt x="0" y="0"/>
                </a:moveTo>
                <a:lnTo>
                  <a:pt x="14395801" y="0"/>
                </a:lnTo>
                <a:lnTo>
                  <a:pt x="14395801" y="4583179"/>
                </a:lnTo>
                <a:lnTo>
                  <a:pt x="0" y="458317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79560"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465677" y="2156951"/>
            <a:ext cx="13755176" cy="16813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720"/>
              </a:lnSpc>
            </a:pPr>
            <a:r>
              <a:rPr lang="en-US" sz="9800" b="1">
                <a:solidFill>
                  <a:srgbClr val="FFFFFF"/>
                </a:solidFill>
                <a:latin typeface="Loubag Bold" panose="02020A03060303060403"/>
                <a:ea typeface="Loubag Bold" panose="02020A03060303060403"/>
                <a:cs typeface="Loubag Bold" panose="02020A03060303060403"/>
                <a:sym typeface="Loubag Bold" panose="02020A03060303060403"/>
              </a:rPr>
              <a:t>AeroSlot Scheduler</a:t>
            </a:r>
            <a:endParaRPr lang="en-US" sz="9800" b="1">
              <a:solidFill>
                <a:srgbClr val="FFFFFF"/>
              </a:solidFill>
              <a:latin typeface="Loubag Bold" panose="02020A03060303060403"/>
              <a:ea typeface="Loubag Bold" panose="02020A03060303060403"/>
              <a:cs typeface="Loubag Bold" panose="02020A03060303060403"/>
              <a:sym typeface="Loubag Bold" panose="02020A03060303060403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735606" y="3858031"/>
            <a:ext cx="10882152" cy="7806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795"/>
              </a:lnSpc>
            </a:pPr>
            <a:r>
              <a:rPr lang="en-US" sz="4140">
                <a:solidFill>
                  <a:srgbClr val="D1CEC9"/>
                </a:solidFill>
                <a:latin typeface="Kabel" panose="020D0402020204020903"/>
                <a:ea typeface="Kabel" panose="020D0402020204020903"/>
                <a:cs typeface="Kabel" panose="020D0402020204020903"/>
                <a:sym typeface="Kabel" panose="020D0402020204020903"/>
              </a:rPr>
              <a:t>Smart Runway Scheduling for safe and efficient skies</a:t>
            </a:r>
            <a:endParaRPr lang="en-US" sz="4140">
              <a:solidFill>
                <a:srgbClr val="D1CEC9"/>
              </a:solidFill>
              <a:latin typeface="Kabel" panose="020D0402020204020903"/>
              <a:ea typeface="Kabel" panose="020D0402020204020903"/>
              <a:cs typeface="Kabel" panose="020D0402020204020903"/>
              <a:sym typeface="Kabel" panose="020D0402020204020903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1635272" y="6091674"/>
            <a:ext cx="5599058" cy="34199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33095" lvl="1" indent="-316230" algn="l">
              <a:lnSpc>
                <a:spcPts val="5540"/>
              </a:lnSpc>
              <a:buAutoNum type="arabicPeriod"/>
            </a:pPr>
            <a:r>
              <a:rPr lang="en-US" sz="2930" b="1">
                <a:solidFill>
                  <a:srgbClr val="FFFFFF"/>
                </a:solidFill>
                <a:latin typeface="Loubag Bold" panose="02020A03060303060403"/>
                <a:ea typeface="Loubag Bold" panose="02020A03060303060403"/>
                <a:cs typeface="Loubag Bold" panose="02020A03060303060403"/>
                <a:sym typeface="Loubag Bold" panose="02020A03060303060403"/>
              </a:rPr>
              <a:t> Prachi Dudhankar</a:t>
            </a:r>
            <a:endParaRPr lang="en-US" sz="2930" b="1">
              <a:solidFill>
                <a:srgbClr val="FFFFFF"/>
              </a:solidFill>
              <a:latin typeface="Loubag Bold" panose="02020A03060303060403"/>
              <a:ea typeface="Loubag Bold" panose="02020A03060303060403"/>
              <a:cs typeface="Loubag Bold" panose="02020A03060303060403"/>
              <a:sym typeface="Loubag Bold" panose="02020A03060303060403"/>
            </a:endParaRPr>
          </a:p>
          <a:p>
            <a:pPr marL="633095" lvl="1" indent="-316230" algn="l">
              <a:lnSpc>
                <a:spcPts val="5540"/>
              </a:lnSpc>
              <a:buAutoNum type="arabicPeriod"/>
            </a:pPr>
            <a:r>
              <a:rPr lang="en-US" sz="2930" b="1">
                <a:solidFill>
                  <a:srgbClr val="FFFFFF"/>
                </a:solidFill>
                <a:latin typeface="Loubag Bold" panose="02020A03060303060403"/>
                <a:ea typeface="Loubag Bold" panose="02020A03060303060403"/>
                <a:cs typeface="Loubag Bold" panose="02020A03060303060403"/>
                <a:sym typeface="Loubag Bold" panose="02020A03060303060403"/>
              </a:rPr>
              <a:t> Anushka Pise</a:t>
            </a:r>
            <a:endParaRPr lang="en-US" sz="2930" b="1">
              <a:solidFill>
                <a:srgbClr val="FFFFFF"/>
              </a:solidFill>
              <a:latin typeface="Loubag Bold" panose="02020A03060303060403"/>
              <a:ea typeface="Loubag Bold" panose="02020A03060303060403"/>
              <a:cs typeface="Loubag Bold" panose="02020A03060303060403"/>
              <a:sym typeface="Loubag Bold" panose="02020A03060303060403"/>
            </a:endParaRPr>
          </a:p>
          <a:p>
            <a:pPr marL="633095" lvl="1" indent="-316230" algn="l">
              <a:lnSpc>
                <a:spcPts val="5540"/>
              </a:lnSpc>
              <a:buAutoNum type="arabicPeriod"/>
            </a:pPr>
            <a:r>
              <a:rPr lang="en-US" sz="2930" b="1">
                <a:solidFill>
                  <a:srgbClr val="FFFFFF"/>
                </a:solidFill>
                <a:latin typeface="Loubag Bold" panose="02020A03060303060403"/>
                <a:ea typeface="Loubag Bold" panose="02020A03060303060403"/>
                <a:cs typeface="Loubag Bold" panose="02020A03060303060403"/>
                <a:sym typeface="Loubag Bold" panose="02020A03060303060403"/>
              </a:rPr>
              <a:t> Onkar Bansode</a:t>
            </a:r>
            <a:endParaRPr lang="en-US" sz="2930" b="1">
              <a:solidFill>
                <a:srgbClr val="FFFFFF"/>
              </a:solidFill>
              <a:latin typeface="Loubag Bold" panose="02020A03060303060403"/>
              <a:ea typeface="Loubag Bold" panose="02020A03060303060403"/>
              <a:cs typeface="Loubag Bold" panose="02020A03060303060403"/>
              <a:sym typeface="Loubag Bold" panose="02020A03060303060403"/>
            </a:endParaRPr>
          </a:p>
          <a:p>
            <a:pPr marL="633095" lvl="1" indent="-316230" algn="l">
              <a:lnSpc>
                <a:spcPts val="5540"/>
              </a:lnSpc>
              <a:buAutoNum type="arabicPeriod"/>
            </a:pPr>
            <a:r>
              <a:rPr lang="en-US" sz="2930" b="1">
                <a:solidFill>
                  <a:srgbClr val="FFFFFF"/>
                </a:solidFill>
                <a:latin typeface="Loubag Bold" panose="02020A03060303060403"/>
                <a:ea typeface="Loubag Bold" panose="02020A03060303060403"/>
                <a:cs typeface="Loubag Bold" panose="02020A03060303060403"/>
                <a:sym typeface="Loubag Bold" panose="02020A03060303060403"/>
              </a:rPr>
              <a:t> Pratiksha Dharne</a:t>
            </a:r>
            <a:endParaRPr lang="en-US" sz="2930" b="1">
              <a:solidFill>
                <a:srgbClr val="FFFFFF"/>
              </a:solidFill>
              <a:latin typeface="Loubag Bold" panose="02020A03060303060403"/>
              <a:ea typeface="Loubag Bold" panose="02020A03060303060403"/>
              <a:cs typeface="Loubag Bold" panose="02020A03060303060403"/>
              <a:sym typeface="Loubag Bold" panose="02020A03060303060403"/>
            </a:endParaRPr>
          </a:p>
          <a:p>
            <a:pPr marL="633095" lvl="1" indent="-316230" algn="l">
              <a:lnSpc>
                <a:spcPts val="5540"/>
              </a:lnSpc>
              <a:buAutoNum type="arabicPeriod"/>
            </a:pPr>
            <a:r>
              <a:rPr lang="en-US" sz="2930" b="1">
                <a:solidFill>
                  <a:srgbClr val="FFFFFF"/>
                </a:solidFill>
                <a:latin typeface="Loubag Bold" panose="02020A03060303060403"/>
                <a:ea typeface="Loubag Bold" panose="02020A03060303060403"/>
                <a:cs typeface="Loubag Bold" panose="02020A03060303060403"/>
                <a:sym typeface="Loubag Bold" panose="02020A03060303060403"/>
              </a:rPr>
              <a:t> Shweta Yede</a:t>
            </a:r>
            <a:endParaRPr lang="en-US" sz="2930" b="1">
              <a:solidFill>
                <a:srgbClr val="FFFFFF"/>
              </a:solidFill>
              <a:latin typeface="Loubag Bold" panose="02020A03060303060403"/>
              <a:ea typeface="Loubag Bold" panose="02020A03060303060403"/>
              <a:cs typeface="Loubag Bold" panose="02020A03060303060403"/>
              <a:sym typeface="Loubag Bold" panose="02020A03060303060403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735606" y="4991100"/>
            <a:ext cx="3373591" cy="7806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795"/>
              </a:lnSpc>
            </a:pPr>
            <a:r>
              <a:rPr lang="en-US" sz="4140" b="1">
                <a:solidFill>
                  <a:srgbClr val="FFFFFF"/>
                </a:solidFill>
                <a:latin typeface="Kabel Ultra-Bold" panose="020D0602020203020903"/>
                <a:ea typeface="Kabel Ultra-Bold" panose="020D0602020203020903"/>
                <a:cs typeface="Kabel Ultra-Bold" panose="020D0602020203020903"/>
                <a:sym typeface="Kabel Ultra-Bold" panose="020D0602020203020903"/>
              </a:rPr>
              <a:t>Group Members:</a:t>
            </a:r>
            <a:endParaRPr lang="en-US" sz="4140" b="1">
              <a:solidFill>
                <a:srgbClr val="FFFFFF"/>
              </a:solidFill>
              <a:latin typeface="Kabel Ultra-Bold" panose="020D0602020203020903"/>
              <a:ea typeface="Kabel Ultra-Bold" panose="020D0602020203020903"/>
              <a:cs typeface="Kabel Ultra-Bold" panose="020D0602020203020903"/>
              <a:sym typeface="Kabel Ultra-Bold" panose="020D0602020203020903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13042559" y="248056"/>
            <a:ext cx="4974375" cy="7806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795"/>
              </a:lnSpc>
            </a:pPr>
            <a:r>
              <a:rPr lang="en-US" sz="4140" b="1">
                <a:solidFill>
                  <a:srgbClr val="142F52"/>
                </a:solidFill>
                <a:latin typeface="Kabel Ultra-Bold" panose="020D0602020203020903"/>
                <a:ea typeface="Kabel Ultra-Bold" panose="020D0602020203020903"/>
                <a:cs typeface="Kabel Ultra-Bold" panose="020D0602020203020903"/>
                <a:sym typeface="Kabel Ultra-Bold" panose="020D0602020203020903"/>
              </a:rPr>
              <a:t>Group No. - SEDA_08</a:t>
            </a:r>
            <a:endParaRPr lang="en-US" sz="4140" b="1">
              <a:solidFill>
                <a:srgbClr val="142F52"/>
              </a:solidFill>
              <a:latin typeface="Kabel Ultra-Bold" panose="020D0602020203020903"/>
              <a:ea typeface="Kabel Ultra-Bold" panose="020D0602020203020903"/>
              <a:cs typeface="Kabel Ultra-Bold" panose="020D0602020203020903"/>
              <a:sym typeface="Kabel Ultra-Bold" panose="020D0602020203020903"/>
            </a:endParaRPr>
          </a:p>
        </p:txBody>
      </p:sp>
      <p:sp>
        <p:nvSpPr>
          <p:cNvPr id="9" name="Freeform 9"/>
          <p:cNvSpPr/>
          <p:nvPr/>
        </p:nvSpPr>
        <p:spPr>
          <a:xfrm rot="-10800000">
            <a:off x="-437658" y="-2051480"/>
            <a:ext cx="7691038" cy="3802655"/>
          </a:xfrm>
          <a:custGeom>
            <a:avLst/>
            <a:gdLst/>
            <a:ahLst/>
            <a:cxnLst/>
            <a:rect l="l" t="t" r="r" b="b"/>
            <a:pathLst>
              <a:path w="7691038" h="3802655">
                <a:moveTo>
                  <a:pt x="0" y="0"/>
                </a:moveTo>
                <a:lnTo>
                  <a:pt x="7691038" y="0"/>
                </a:lnTo>
                <a:lnTo>
                  <a:pt x="7691038" y="3802655"/>
                </a:lnTo>
                <a:lnTo>
                  <a:pt x="0" y="38026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-456708" y="150878"/>
            <a:ext cx="5466736" cy="2202203"/>
          </a:xfrm>
          <a:custGeom>
            <a:avLst/>
            <a:gdLst/>
            <a:ahLst/>
            <a:cxnLst/>
            <a:rect l="l" t="t" r="r" b="b"/>
            <a:pathLst>
              <a:path w="5466736" h="2202203">
                <a:moveTo>
                  <a:pt x="0" y="0"/>
                </a:moveTo>
                <a:lnTo>
                  <a:pt x="5466736" y="0"/>
                </a:lnTo>
                <a:lnTo>
                  <a:pt x="5466736" y="2202203"/>
                </a:lnTo>
                <a:lnTo>
                  <a:pt x="0" y="220220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2F5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14935" y="541547"/>
            <a:ext cx="9834528" cy="10525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660"/>
              </a:lnSpc>
            </a:pPr>
            <a:r>
              <a:rPr lang="en-US" sz="6185" b="1">
                <a:solidFill>
                  <a:srgbClr val="FFFFFF"/>
                </a:solidFill>
                <a:latin typeface="Loubag Bold" panose="02020A03060303060403"/>
                <a:ea typeface="Loubag Bold" panose="02020A03060303060403"/>
                <a:cs typeface="Loubag Bold" panose="02020A03060303060403"/>
                <a:sym typeface="Loubag Bold" panose="02020A03060303060403"/>
              </a:rPr>
              <a:t>Problem Statement</a:t>
            </a:r>
            <a:endParaRPr lang="en-US" sz="6185" b="1">
              <a:solidFill>
                <a:srgbClr val="FFFFFF"/>
              </a:solidFill>
              <a:latin typeface="Loubag Bold" panose="02020A03060303060403"/>
              <a:ea typeface="Loubag Bold" panose="02020A03060303060403"/>
              <a:cs typeface="Loubag Bold" panose="02020A03060303060403"/>
              <a:sym typeface="Loubag Bold" panose="02020A03060303060403"/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753951" y="1809405"/>
            <a:ext cx="15209403" cy="5538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750"/>
              </a:lnSpc>
            </a:pPr>
            <a:r>
              <a:rPr lang="en-US" sz="3570">
                <a:solidFill>
                  <a:srgbClr val="FFFFFF"/>
                </a:solidFill>
                <a:latin typeface="Kabel" panose="020D0402020204020903"/>
                <a:ea typeface="Kabel" panose="020D0402020204020903"/>
                <a:cs typeface="Kabel" panose="020D0402020204020903"/>
                <a:sym typeface="Kabel" panose="020D0402020204020903"/>
              </a:rPr>
              <a:t>T</a:t>
            </a:r>
            <a:r>
              <a:rPr lang="en-US" sz="3570">
                <a:solidFill>
                  <a:srgbClr val="FFFFFF"/>
                </a:solidFill>
                <a:latin typeface="Kabel" panose="020D0402020204020903"/>
                <a:ea typeface="Kabel" panose="020D0402020204020903"/>
                <a:cs typeface="Kabel" panose="020D0402020204020903"/>
                <a:sym typeface="Kabel" panose="020D0402020204020903"/>
              </a:rPr>
              <a:t>raditional runway scheduling struggles under growing air traffic complexity.</a:t>
            </a:r>
            <a:endParaRPr lang="en-US" sz="3570">
              <a:solidFill>
                <a:srgbClr val="FFFFFF"/>
              </a:solidFill>
              <a:latin typeface="Kabel" panose="020D0402020204020903"/>
              <a:ea typeface="Kabel" panose="020D0402020204020903"/>
              <a:cs typeface="Kabel" panose="020D0402020204020903"/>
              <a:sym typeface="Kabel" panose="020D0402020204020903"/>
            </a:endParaRPr>
          </a:p>
        </p:txBody>
      </p:sp>
      <p:grpSp>
        <p:nvGrpSpPr>
          <p:cNvPr id="4" name="Group 4"/>
          <p:cNvGrpSpPr/>
          <p:nvPr/>
        </p:nvGrpSpPr>
        <p:grpSpPr>
          <a:xfrm rot="0">
            <a:off x="587147" y="3020423"/>
            <a:ext cx="5085085" cy="2368876"/>
            <a:chOff x="0" y="0"/>
            <a:chExt cx="6780114" cy="3158501"/>
          </a:xfrm>
        </p:grpSpPr>
        <p:grpSp>
          <p:nvGrpSpPr>
            <p:cNvPr id="5" name="Group 5"/>
            <p:cNvGrpSpPr/>
            <p:nvPr/>
          </p:nvGrpSpPr>
          <p:grpSpPr>
            <a:xfrm rot="0">
              <a:off x="0" y="1811788"/>
              <a:ext cx="6780114" cy="1346714"/>
              <a:chOff x="0" y="0"/>
              <a:chExt cx="1339282" cy="266018"/>
            </a:xfrm>
          </p:grpSpPr>
          <p:sp>
            <p:nvSpPr>
              <p:cNvPr id="6" name="Freeform 6"/>
              <p:cNvSpPr/>
              <p:nvPr/>
            </p:nvSpPr>
            <p:spPr>
              <a:xfrm>
                <a:off x="0" y="0"/>
                <a:ext cx="1339282" cy="266018"/>
              </a:xfrm>
              <a:custGeom>
                <a:avLst/>
                <a:gdLst/>
                <a:ahLst/>
                <a:cxnLst/>
                <a:rect l="l" t="t" r="r" b="b"/>
                <a:pathLst>
                  <a:path w="1339282" h="266018">
                    <a:moveTo>
                      <a:pt x="77646" y="0"/>
                    </a:moveTo>
                    <a:lnTo>
                      <a:pt x="1261635" y="0"/>
                    </a:lnTo>
                    <a:cubicBezTo>
                      <a:pt x="1304518" y="0"/>
                      <a:pt x="1339282" y="34763"/>
                      <a:pt x="1339282" y="77646"/>
                    </a:cubicBezTo>
                    <a:lnTo>
                      <a:pt x="1339282" y="188371"/>
                    </a:lnTo>
                    <a:cubicBezTo>
                      <a:pt x="1339282" y="231254"/>
                      <a:pt x="1304518" y="266018"/>
                      <a:pt x="1261635" y="266018"/>
                    </a:cubicBezTo>
                    <a:lnTo>
                      <a:pt x="77646" y="266018"/>
                    </a:lnTo>
                    <a:cubicBezTo>
                      <a:pt x="57053" y="266018"/>
                      <a:pt x="37304" y="257837"/>
                      <a:pt x="22742" y="243275"/>
                    </a:cubicBezTo>
                    <a:cubicBezTo>
                      <a:pt x="8181" y="228714"/>
                      <a:pt x="0" y="208964"/>
                      <a:pt x="0" y="188371"/>
                    </a:cubicBezTo>
                    <a:lnTo>
                      <a:pt x="0" y="77646"/>
                    </a:lnTo>
                    <a:cubicBezTo>
                      <a:pt x="0" y="34763"/>
                      <a:pt x="34763" y="0"/>
                      <a:pt x="77646" y="0"/>
                    </a:cubicBezTo>
                    <a:close/>
                  </a:path>
                </a:pathLst>
              </a:custGeom>
              <a:solidFill>
                <a:srgbClr val="BDDEE8"/>
              </a:solidFill>
            </p:spPr>
          </p:sp>
          <p:sp>
            <p:nvSpPr>
              <p:cNvPr id="7" name="TextBox 7"/>
              <p:cNvSpPr txBox="1"/>
              <p:nvPr/>
            </p:nvSpPr>
            <p:spPr>
              <a:xfrm>
                <a:off x="0" y="-28575"/>
                <a:ext cx="1339282" cy="29459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grpSp>
          <p:nvGrpSpPr>
            <p:cNvPr id="8" name="Group 8"/>
            <p:cNvGrpSpPr/>
            <p:nvPr/>
          </p:nvGrpSpPr>
          <p:grpSpPr>
            <a:xfrm rot="0">
              <a:off x="207484" y="0"/>
              <a:ext cx="6372481" cy="3087519"/>
              <a:chOff x="0" y="0"/>
              <a:chExt cx="1258762" cy="609880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0" y="0"/>
                <a:ext cx="1258762" cy="609880"/>
              </a:xfrm>
              <a:custGeom>
                <a:avLst/>
                <a:gdLst/>
                <a:ahLst/>
                <a:cxnLst/>
                <a:rect l="l" t="t" r="r" b="b"/>
                <a:pathLst>
                  <a:path w="1258762" h="609880">
                    <a:moveTo>
                      <a:pt x="82613" y="0"/>
                    </a:moveTo>
                    <a:lnTo>
                      <a:pt x="1176149" y="0"/>
                    </a:lnTo>
                    <a:cubicBezTo>
                      <a:pt x="1198059" y="0"/>
                      <a:pt x="1219072" y="8704"/>
                      <a:pt x="1234565" y="24197"/>
                    </a:cubicBezTo>
                    <a:cubicBezTo>
                      <a:pt x="1250058" y="39690"/>
                      <a:pt x="1258762" y="60703"/>
                      <a:pt x="1258762" y="82613"/>
                    </a:cubicBezTo>
                    <a:lnTo>
                      <a:pt x="1258762" y="527267"/>
                    </a:lnTo>
                    <a:cubicBezTo>
                      <a:pt x="1258762" y="572893"/>
                      <a:pt x="1221774" y="609880"/>
                      <a:pt x="1176149" y="609880"/>
                    </a:cubicBezTo>
                    <a:lnTo>
                      <a:pt x="82613" y="609880"/>
                    </a:lnTo>
                    <a:cubicBezTo>
                      <a:pt x="36987" y="609880"/>
                      <a:pt x="0" y="572893"/>
                      <a:pt x="0" y="527267"/>
                    </a:cubicBezTo>
                    <a:lnTo>
                      <a:pt x="0" y="82613"/>
                    </a:lnTo>
                    <a:cubicBezTo>
                      <a:pt x="0" y="36987"/>
                      <a:pt x="36987" y="0"/>
                      <a:pt x="82613" y="0"/>
                    </a:cubicBezTo>
                    <a:close/>
                  </a:path>
                </a:pathLst>
              </a:custGeom>
              <a:solidFill>
                <a:srgbClr val="E8ECEC"/>
              </a:solidFill>
            </p:spPr>
          </p:sp>
          <p:sp>
            <p:nvSpPr>
              <p:cNvPr id="10" name="TextBox 10"/>
              <p:cNvSpPr txBox="1"/>
              <p:nvPr/>
            </p:nvSpPr>
            <p:spPr>
              <a:xfrm>
                <a:off x="0" y="-28575"/>
                <a:ext cx="1258762" cy="63845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</p:grpSp>
      <p:grpSp>
        <p:nvGrpSpPr>
          <p:cNvPr id="11" name="Group 11"/>
          <p:cNvGrpSpPr/>
          <p:nvPr/>
        </p:nvGrpSpPr>
        <p:grpSpPr>
          <a:xfrm rot="5400000">
            <a:off x="2027698" y="1906439"/>
            <a:ext cx="2203983" cy="4543607"/>
            <a:chOff x="0" y="0"/>
            <a:chExt cx="1210953" cy="2496433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210953" cy="2496433"/>
            </a:xfrm>
            <a:custGeom>
              <a:avLst/>
              <a:gdLst/>
              <a:ahLst/>
              <a:cxnLst/>
              <a:rect l="l" t="t" r="r" b="b"/>
              <a:pathLst>
                <a:path w="1210953" h="2496433">
                  <a:moveTo>
                    <a:pt x="179147" y="0"/>
                  </a:moveTo>
                  <a:lnTo>
                    <a:pt x="1031805" y="0"/>
                  </a:lnTo>
                  <a:cubicBezTo>
                    <a:pt x="1079318" y="0"/>
                    <a:pt x="1124885" y="18874"/>
                    <a:pt x="1158482" y="52471"/>
                  </a:cubicBezTo>
                  <a:cubicBezTo>
                    <a:pt x="1192078" y="86068"/>
                    <a:pt x="1210953" y="131635"/>
                    <a:pt x="1210953" y="179147"/>
                  </a:cubicBezTo>
                  <a:lnTo>
                    <a:pt x="1210953" y="2317285"/>
                  </a:lnTo>
                  <a:cubicBezTo>
                    <a:pt x="1210953" y="2364798"/>
                    <a:pt x="1192078" y="2410365"/>
                    <a:pt x="1158482" y="2443961"/>
                  </a:cubicBezTo>
                  <a:cubicBezTo>
                    <a:pt x="1124885" y="2477558"/>
                    <a:pt x="1079318" y="2496433"/>
                    <a:pt x="1031805" y="2496433"/>
                  </a:cubicBezTo>
                  <a:lnTo>
                    <a:pt x="179147" y="2496433"/>
                  </a:lnTo>
                  <a:cubicBezTo>
                    <a:pt x="131635" y="2496433"/>
                    <a:pt x="86068" y="2477558"/>
                    <a:pt x="52471" y="2443961"/>
                  </a:cubicBezTo>
                  <a:cubicBezTo>
                    <a:pt x="18874" y="2410365"/>
                    <a:pt x="0" y="2364798"/>
                    <a:pt x="0" y="2317285"/>
                  </a:cubicBezTo>
                  <a:lnTo>
                    <a:pt x="0" y="179147"/>
                  </a:lnTo>
                  <a:cubicBezTo>
                    <a:pt x="0" y="131635"/>
                    <a:pt x="18874" y="86068"/>
                    <a:pt x="52471" y="52471"/>
                  </a:cubicBezTo>
                  <a:cubicBezTo>
                    <a:pt x="86068" y="18874"/>
                    <a:pt x="131635" y="0"/>
                    <a:pt x="179147" y="0"/>
                  </a:cubicBezTo>
                  <a:close/>
                </a:path>
              </a:pathLst>
            </a:custGeom>
            <a:solidFill>
              <a:srgbClr val="0345E4">
                <a:alpha val="29804"/>
              </a:srgbClr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0" y="-38100"/>
              <a:ext cx="1210953" cy="25345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963504" y="3468635"/>
            <a:ext cx="4168694" cy="13046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265"/>
              </a:lnSpc>
              <a:spcBef>
                <a:spcPct val="0"/>
              </a:spcBef>
            </a:pPr>
            <a:r>
              <a:rPr lang="en-US" sz="3760" b="1" spc="41">
                <a:solidFill>
                  <a:srgbClr val="142F52"/>
                </a:solidFill>
                <a:latin typeface="Merriweather Bold" panose="00000800000000000000"/>
                <a:ea typeface="Merriweather Bold" panose="00000800000000000000"/>
                <a:cs typeface="Merriweather Bold" panose="00000800000000000000"/>
                <a:sym typeface="Merriweather Bold" panose="00000800000000000000"/>
              </a:rPr>
              <a:t>Flight Dealys and Congestion</a:t>
            </a:r>
            <a:endParaRPr lang="en-US" sz="3760" b="1" spc="41">
              <a:solidFill>
                <a:srgbClr val="142F52"/>
              </a:solidFill>
              <a:latin typeface="Merriweather Bold" panose="00000800000000000000"/>
              <a:ea typeface="Merriweather Bold" panose="00000800000000000000"/>
              <a:cs typeface="Merriweather Bold" panose="00000800000000000000"/>
              <a:sym typeface="Merriweather Bold" panose="00000800000000000000"/>
            </a:endParaRPr>
          </a:p>
        </p:txBody>
      </p:sp>
      <p:grpSp>
        <p:nvGrpSpPr>
          <p:cNvPr id="15" name="Group 15"/>
          <p:cNvGrpSpPr/>
          <p:nvPr/>
        </p:nvGrpSpPr>
        <p:grpSpPr>
          <a:xfrm rot="0">
            <a:off x="6601457" y="4379264"/>
            <a:ext cx="5085085" cy="1010035"/>
            <a:chOff x="0" y="0"/>
            <a:chExt cx="1339282" cy="266018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339282" cy="266018"/>
            </a:xfrm>
            <a:custGeom>
              <a:avLst/>
              <a:gdLst/>
              <a:ahLst/>
              <a:cxnLst/>
              <a:rect l="l" t="t" r="r" b="b"/>
              <a:pathLst>
                <a:path w="1339282" h="266018">
                  <a:moveTo>
                    <a:pt x="77646" y="0"/>
                  </a:moveTo>
                  <a:lnTo>
                    <a:pt x="1261635" y="0"/>
                  </a:lnTo>
                  <a:cubicBezTo>
                    <a:pt x="1304518" y="0"/>
                    <a:pt x="1339282" y="34763"/>
                    <a:pt x="1339282" y="77646"/>
                  </a:cubicBezTo>
                  <a:lnTo>
                    <a:pt x="1339282" y="188371"/>
                  </a:lnTo>
                  <a:cubicBezTo>
                    <a:pt x="1339282" y="231254"/>
                    <a:pt x="1304518" y="266018"/>
                    <a:pt x="1261635" y="266018"/>
                  </a:cubicBezTo>
                  <a:lnTo>
                    <a:pt x="77646" y="266018"/>
                  </a:lnTo>
                  <a:cubicBezTo>
                    <a:pt x="57053" y="266018"/>
                    <a:pt x="37304" y="257837"/>
                    <a:pt x="22742" y="243275"/>
                  </a:cubicBezTo>
                  <a:cubicBezTo>
                    <a:pt x="8181" y="228714"/>
                    <a:pt x="0" y="208964"/>
                    <a:pt x="0" y="188371"/>
                  </a:cubicBezTo>
                  <a:lnTo>
                    <a:pt x="0" y="77646"/>
                  </a:lnTo>
                  <a:cubicBezTo>
                    <a:pt x="0" y="34763"/>
                    <a:pt x="34763" y="0"/>
                    <a:pt x="77646" y="0"/>
                  </a:cubicBezTo>
                  <a:close/>
                </a:path>
              </a:pathLst>
            </a:custGeom>
            <a:solidFill>
              <a:srgbClr val="BDDEE8"/>
            </a:solidFill>
          </p:spPr>
        </p:sp>
        <p:sp>
          <p:nvSpPr>
            <p:cNvPr id="17" name="TextBox 17"/>
            <p:cNvSpPr txBox="1"/>
            <p:nvPr/>
          </p:nvSpPr>
          <p:spPr>
            <a:xfrm>
              <a:off x="0" y="-28575"/>
              <a:ext cx="1339282" cy="29459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id="18" name="Group 18"/>
          <p:cNvGrpSpPr/>
          <p:nvPr/>
        </p:nvGrpSpPr>
        <p:grpSpPr>
          <a:xfrm rot="0">
            <a:off x="6757071" y="3020423"/>
            <a:ext cx="4779361" cy="2315639"/>
            <a:chOff x="0" y="0"/>
            <a:chExt cx="1258762" cy="60988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1258762" cy="609880"/>
            </a:xfrm>
            <a:custGeom>
              <a:avLst/>
              <a:gdLst/>
              <a:ahLst/>
              <a:cxnLst/>
              <a:rect l="l" t="t" r="r" b="b"/>
              <a:pathLst>
                <a:path w="1258762" h="609880">
                  <a:moveTo>
                    <a:pt x="82613" y="0"/>
                  </a:moveTo>
                  <a:lnTo>
                    <a:pt x="1176149" y="0"/>
                  </a:lnTo>
                  <a:cubicBezTo>
                    <a:pt x="1198059" y="0"/>
                    <a:pt x="1219072" y="8704"/>
                    <a:pt x="1234565" y="24197"/>
                  </a:cubicBezTo>
                  <a:cubicBezTo>
                    <a:pt x="1250058" y="39690"/>
                    <a:pt x="1258762" y="60703"/>
                    <a:pt x="1258762" y="82613"/>
                  </a:cubicBezTo>
                  <a:lnTo>
                    <a:pt x="1258762" y="527267"/>
                  </a:lnTo>
                  <a:cubicBezTo>
                    <a:pt x="1258762" y="572893"/>
                    <a:pt x="1221774" y="609880"/>
                    <a:pt x="1176149" y="609880"/>
                  </a:cubicBezTo>
                  <a:lnTo>
                    <a:pt x="82613" y="609880"/>
                  </a:lnTo>
                  <a:cubicBezTo>
                    <a:pt x="36987" y="609880"/>
                    <a:pt x="0" y="572893"/>
                    <a:pt x="0" y="527267"/>
                  </a:cubicBezTo>
                  <a:lnTo>
                    <a:pt x="0" y="82613"/>
                  </a:lnTo>
                  <a:cubicBezTo>
                    <a:pt x="0" y="36987"/>
                    <a:pt x="36987" y="0"/>
                    <a:pt x="82613" y="0"/>
                  </a:cubicBezTo>
                  <a:close/>
                </a:path>
              </a:pathLst>
            </a:custGeom>
            <a:solidFill>
              <a:srgbClr val="E8ECEC"/>
            </a:solidFill>
          </p:spPr>
        </p:sp>
        <p:sp>
          <p:nvSpPr>
            <p:cNvPr id="20" name="TextBox 20"/>
            <p:cNvSpPr txBox="1"/>
            <p:nvPr/>
          </p:nvSpPr>
          <p:spPr>
            <a:xfrm>
              <a:off x="0" y="-28575"/>
              <a:ext cx="1258762" cy="63845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sp>
        <p:nvSpPr>
          <p:cNvPr id="21" name="TextBox 21"/>
          <p:cNvSpPr txBox="1"/>
          <p:nvPr/>
        </p:nvSpPr>
        <p:spPr>
          <a:xfrm>
            <a:off x="6872196" y="3185837"/>
            <a:ext cx="4543607" cy="19713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265"/>
              </a:lnSpc>
              <a:spcBef>
                <a:spcPct val="0"/>
              </a:spcBef>
            </a:pPr>
            <a:r>
              <a:rPr lang="en-US" sz="3760" b="1" spc="41">
                <a:solidFill>
                  <a:srgbClr val="142F52"/>
                </a:solidFill>
                <a:latin typeface="Merriweather Bold" panose="00000800000000000000"/>
                <a:ea typeface="Merriweather Bold" panose="00000800000000000000"/>
                <a:cs typeface="Merriweather Bold" panose="00000800000000000000"/>
                <a:sym typeface="Merriweather Bold" panose="00000800000000000000"/>
              </a:rPr>
              <a:t>Inefficient Runway Utilization</a:t>
            </a:r>
            <a:endParaRPr lang="en-US" sz="3760" b="1" spc="41">
              <a:solidFill>
                <a:srgbClr val="142F52"/>
              </a:solidFill>
              <a:latin typeface="Merriweather Bold" panose="00000800000000000000"/>
              <a:ea typeface="Merriweather Bold" panose="00000800000000000000"/>
              <a:cs typeface="Merriweather Bold" panose="00000800000000000000"/>
              <a:sym typeface="Merriweather Bold" panose="00000800000000000000"/>
            </a:endParaRPr>
          </a:p>
        </p:txBody>
      </p:sp>
      <p:grpSp>
        <p:nvGrpSpPr>
          <p:cNvPr id="22" name="Group 22"/>
          <p:cNvGrpSpPr/>
          <p:nvPr/>
        </p:nvGrpSpPr>
        <p:grpSpPr>
          <a:xfrm rot="5400000">
            <a:off x="8042009" y="1914008"/>
            <a:ext cx="2203983" cy="4543607"/>
            <a:chOff x="0" y="0"/>
            <a:chExt cx="1210953" cy="2496433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1210953" cy="2496433"/>
            </a:xfrm>
            <a:custGeom>
              <a:avLst/>
              <a:gdLst/>
              <a:ahLst/>
              <a:cxnLst/>
              <a:rect l="l" t="t" r="r" b="b"/>
              <a:pathLst>
                <a:path w="1210953" h="2496433">
                  <a:moveTo>
                    <a:pt x="179147" y="0"/>
                  </a:moveTo>
                  <a:lnTo>
                    <a:pt x="1031805" y="0"/>
                  </a:lnTo>
                  <a:cubicBezTo>
                    <a:pt x="1079318" y="0"/>
                    <a:pt x="1124885" y="18874"/>
                    <a:pt x="1158482" y="52471"/>
                  </a:cubicBezTo>
                  <a:cubicBezTo>
                    <a:pt x="1192078" y="86068"/>
                    <a:pt x="1210953" y="131635"/>
                    <a:pt x="1210953" y="179147"/>
                  </a:cubicBezTo>
                  <a:lnTo>
                    <a:pt x="1210953" y="2317285"/>
                  </a:lnTo>
                  <a:cubicBezTo>
                    <a:pt x="1210953" y="2364798"/>
                    <a:pt x="1192078" y="2410365"/>
                    <a:pt x="1158482" y="2443961"/>
                  </a:cubicBezTo>
                  <a:cubicBezTo>
                    <a:pt x="1124885" y="2477558"/>
                    <a:pt x="1079318" y="2496433"/>
                    <a:pt x="1031805" y="2496433"/>
                  </a:cubicBezTo>
                  <a:lnTo>
                    <a:pt x="179147" y="2496433"/>
                  </a:lnTo>
                  <a:cubicBezTo>
                    <a:pt x="131635" y="2496433"/>
                    <a:pt x="86068" y="2477558"/>
                    <a:pt x="52471" y="2443961"/>
                  </a:cubicBezTo>
                  <a:cubicBezTo>
                    <a:pt x="18874" y="2410365"/>
                    <a:pt x="0" y="2364798"/>
                    <a:pt x="0" y="2317285"/>
                  </a:cubicBezTo>
                  <a:lnTo>
                    <a:pt x="0" y="179147"/>
                  </a:lnTo>
                  <a:cubicBezTo>
                    <a:pt x="0" y="131635"/>
                    <a:pt x="18874" y="86068"/>
                    <a:pt x="52471" y="52471"/>
                  </a:cubicBezTo>
                  <a:cubicBezTo>
                    <a:pt x="86068" y="18874"/>
                    <a:pt x="131635" y="0"/>
                    <a:pt x="179147" y="0"/>
                  </a:cubicBezTo>
                  <a:close/>
                </a:path>
              </a:pathLst>
            </a:custGeom>
            <a:solidFill>
              <a:srgbClr val="0345E4">
                <a:alpha val="29804"/>
              </a:srgbClr>
            </a:solidFill>
          </p:spPr>
        </p:sp>
        <p:sp>
          <p:nvSpPr>
            <p:cNvPr id="24" name="TextBox 24"/>
            <p:cNvSpPr txBox="1"/>
            <p:nvPr/>
          </p:nvSpPr>
          <p:spPr>
            <a:xfrm>
              <a:off x="0" y="-38100"/>
              <a:ext cx="1210953" cy="25345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id="25" name="Group 25"/>
          <p:cNvGrpSpPr/>
          <p:nvPr/>
        </p:nvGrpSpPr>
        <p:grpSpPr>
          <a:xfrm rot="0">
            <a:off x="12590762" y="3020423"/>
            <a:ext cx="5085085" cy="2368876"/>
            <a:chOff x="0" y="0"/>
            <a:chExt cx="6780114" cy="3158501"/>
          </a:xfrm>
        </p:grpSpPr>
        <p:grpSp>
          <p:nvGrpSpPr>
            <p:cNvPr id="26" name="Group 26"/>
            <p:cNvGrpSpPr/>
            <p:nvPr/>
          </p:nvGrpSpPr>
          <p:grpSpPr>
            <a:xfrm rot="0">
              <a:off x="0" y="1811788"/>
              <a:ext cx="6780114" cy="1346714"/>
              <a:chOff x="0" y="0"/>
              <a:chExt cx="1339282" cy="266018"/>
            </a:xfrm>
          </p:grpSpPr>
          <p:sp>
            <p:nvSpPr>
              <p:cNvPr id="27" name="Freeform 27"/>
              <p:cNvSpPr/>
              <p:nvPr/>
            </p:nvSpPr>
            <p:spPr>
              <a:xfrm>
                <a:off x="0" y="0"/>
                <a:ext cx="1339282" cy="266018"/>
              </a:xfrm>
              <a:custGeom>
                <a:avLst/>
                <a:gdLst/>
                <a:ahLst/>
                <a:cxnLst/>
                <a:rect l="l" t="t" r="r" b="b"/>
                <a:pathLst>
                  <a:path w="1339282" h="266018">
                    <a:moveTo>
                      <a:pt x="77646" y="0"/>
                    </a:moveTo>
                    <a:lnTo>
                      <a:pt x="1261635" y="0"/>
                    </a:lnTo>
                    <a:cubicBezTo>
                      <a:pt x="1304518" y="0"/>
                      <a:pt x="1339282" y="34763"/>
                      <a:pt x="1339282" y="77646"/>
                    </a:cubicBezTo>
                    <a:lnTo>
                      <a:pt x="1339282" y="188371"/>
                    </a:lnTo>
                    <a:cubicBezTo>
                      <a:pt x="1339282" y="231254"/>
                      <a:pt x="1304518" y="266018"/>
                      <a:pt x="1261635" y="266018"/>
                    </a:cubicBezTo>
                    <a:lnTo>
                      <a:pt x="77646" y="266018"/>
                    </a:lnTo>
                    <a:cubicBezTo>
                      <a:pt x="57053" y="266018"/>
                      <a:pt x="37304" y="257837"/>
                      <a:pt x="22742" y="243275"/>
                    </a:cubicBezTo>
                    <a:cubicBezTo>
                      <a:pt x="8181" y="228714"/>
                      <a:pt x="0" y="208964"/>
                      <a:pt x="0" y="188371"/>
                    </a:cubicBezTo>
                    <a:lnTo>
                      <a:pt x="0" y="77646"/>
                    </a:lnTo>
                    <a:cubicBezTo>
                      <a:pt x="0" y="34763"/>
                      <a:pt x="34763" y="0"/>
                      <a:pt x="77646" y="0"/>
                    </a:cubicBezTo>
                    <a:close/>
                  </a:path>
                </a:pathLst>
              </a:custGeom>
              <a:solidFill>
                <a:srgbClr val="BDDEE8"/>
              </a:solidFill>
            </p:spPr>
          </p:sp>
          <p:sp>
            <p:nvSpPr>
              <p:cNvPr id="28" name="TextBox 28"/>
              <p:cNvSpPr txBox="1"/>
              <p:nvPr/>
            </p:nvSpPr>
            <p:spPr>
              <a:xfrm>
                <a:off x="0" y="-28575"/>
                <a:ext cx="1339282" cy="29459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grpSp>
          <p:nvGrpSpPr>
            <p:cNvPr id="29" name="Group 29"/>
            <p:cNvGrpSpPr/>
            <p:nvPr/>
          </p:nvGrpSpPr>
          <p:grpSpPr>
            <a:xfrm rot="0">
              <a:off x="207484" y="0"/>
              <a:ext cx="6372481" cy="3087519"/>
              <a:chOff x="0" y="0"/>
              <a:chExt cx="1258762" cy="609880"/>
            </a:xfrm>
          </p:grpSpPr>
          <p:sp>
            <p:nvSpPr>
              <p:cNvPr id="30" name="Freeform 30"/>
              <p:cNvSpPr/>
              <p:nvPr/>
            </p:nvSpPr>
            <p:spPr>
              <a:xfrm>
                <a:off x="0" y="0"/>
                <a:ext cx="1258762" cy="609880"/>
              </a:xfrm>
              <a:custGeom>
                <a:avLst/>
                <a:gdLst/>
                <a:ahLst/>
                <a:cxnLst/>
                <a:rect l="l" t="t" r="r" b="b"/>
                <a:pathLst>
                  <a:path w="1258762" h="609880">
                    <a:moveTo>
                      <a:pt x="82613" y="0"/>
                    </a:moveTo>
                    <a:lnTo>
                      <a:pt x="1176149" y="0"/>
                    </a:lnTo>
                    <a:cubicBezTo>
                      <a:pt x="1198059" y="0"/>
                      <a:pt x="1219072" y="8704"/>
                      <a:pt x="1234565" y="24197"/>
                    </a:cubicBezTo>
                    <a:cubicBezTo>
                      <a:pt x="1250058" y="39690"/>
                      <a:pt x="1258762" y="60703"/>
                      <a:pt x="1258762" y="82613"/>
                    </a:cubicBezTo>
                    <a:lnTo>
                      <a:pt x="1258762" y="527267"/>
                    </a:lnTo>
                    <a:cubicBezTo>
                      <a:pt x="1258762" y="572893"/>
                      <a:pt x="1221774" y="609880"/>
                      <a:pt x="1176149" y="609880"/>
                    </a:cubicBezTo>
                    <a:lnTo>
                      <a:pt x="82613" y="609880"/>
                    </a:lnTo>
                    <a:cubicBezTo>
                      <a:pt x="36987" y="609880"/>
                      <a:pt x="0" y="572893"/>
                      <a:pt x="0" y="527267"/>
                    </a:cubicBezTo>
                    <a:lnTo>
                      <a:pt x="0" y="82613"/>
                    </a:lnTo>
                    <a:cubicBezTo>
                      <a:pt x="0" y="36987"/>
                      <a:pt x="36987" y="0"/>
                      <a:pt x="82613" y="0"/>
                    </a:cubicBezTo>
                    <a:close/>
                  </a:path>
                </a:pathLst>
              </a:custGeom>
              <a:solidFill>
                <a:srgbClr val="E8ECEC"/>
              </a:solidFill>
            </p:spPr>
          </p:sp>
          <p:sp>
            <p:nvSpPr>
              <p:cNvPr id="31" name="TextBox 31"/>
              <p:cNvSpPr txBox="1"/>
              <p:nvPr/>
            </p:nvSpPr>
            <p:spPr>
              <a:xfrm>
                <a:off x="0" y="-28575"/>
                <a:ext cx="1258762" cy="63845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</p:grpSp>
      <p:grpSp>
        <p:nvGrpSpPr>
          <p:cNvPr id="32" name="Group 32"/>
          <p:cNvGrpSpPr/>
          <p:nvPr/>
        </p:nvGrpSpPr>
        <p:grpSpPr>
          <a:xfrm rot="5400000">
            <a:off x="14031313" y="1906439"/>
            <a:ext cx="2203983" cy="4543607"/>
            <a:chOff x="0" y="0"/>
            <a:chExt cx="1210953" cy="2496433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1210953" cy="2496433"/>
            </a:xfrm>
            <a:custGeom>
              <a:avLst/>
              <a:gdLst/>
              <a:ahLst/>
              <a:cxnLst/>
              <a:rect l="l" t="t" r="r" b="b"/>
              <a:pathLst>
                <a:path w="1210953" h="2496433">
                  <a:moveTo>
                    <a:pt x="179147" y="0"/>
                  </a:moveTo>
                  <a:lnTo>
                    <a:pt x="1031805" y="0"/>
                  </a:lnTo>
                  <a:cubicBezTo>
                    <a:pt x="1079318" y="0"/>
                    <a:pt x="1124885" y="18874"/>
                    <a:pt x="1158482" y="52471"/>
                  </a:cubicBezTo>
                  <a:cubicBezTo>
                    <a:pt x="1192078" y="86068"/>
                    <a:pt x="1210953" y="131635"/>
                    <a:pt x="1210953" y="179147"/>
                  </a:cubicBezTo>
                  <a:lnTo>
                    <a:pt x="1210953" y="2317285"/>
                  </a:lnTo>
                  <a:cubicBezTo>
                    <a:pt x="1210953" y="2364798"/>
                    <a:pt x="1192078" y="2410365"/>
                    <a:pt x="1158482" y="2443961"/>
                  </a:cubicBezTo>
                  <a:cubicBezTo>
                    <a:pt x="1124885" y="2477558"/>
                    <a:pt x="1079318" y="2496433"/>
                    <a:pt x="1031805" y="2496433"/>
                  </a:cubicBezTo>
                  <a:lnTo>
                    <a:pt x="179147" y="2496433"/>
                  </a:lnTo>
                  <a:cubicBezTo>
                    <a:pt x="131635" y="2496433"/>
                    <a:pt x="86068" y="2477558"/>
                    <a:pt x="52471" y="2443961"/>
                  </a:cubicBezTo>
                  <a:cubicBezTo>
                    <a:pt x="18874" y="2410365"/>
                    <a:pt x="0" y="2364798"/>
                    <a:pt x="0" y="2317285"/>
                  </a:cubicBezTo>
                  <a:lnTo>
                    <a:pt x="0" y="179147"/>
                  </a:lnTo>
                  <a:cubicBezTo>
                    <a:pt x="0" y="131635"/>
                    <a:pt x="18874" y="86068"/>
                    <a:pt x="52471" y="52471"/>
                  </a:cubicBezTo>
                  <a:cubicBezTo>
                    <a:pt x="86068" y="18874"/>
                    <a:pt x="131635" y="0"/>
                    <a:pt x="179147" y="0"/>
                  </a:cubicBezTo>
                  <a:close/>
                </a:path>
              </a:pathLst>
            </a:custGeom>
            <a:solidFill>
              <a:srgbClr val="0345E4">
                <a:alpha val="29804"/>
              </a:srgbClr>
            </a:solidFill>
          </p:spPr>
        </p:sp>
        <p:sp>
          <p:nvSpPr>
            <p:cNvPr id="34" name="TextBox 34"/>
            <p:cNvSpPr txBox="1"/>
            <p:nvPr/>
          </p:nvSpPr>
          <p:spPr>
            <a:xfrm>
              <a:off x="0" y="-38100"/>
              <a:ext cx="1210953" cy="25345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sp>
        <p:nvSpPr>
          <p:cNvPr id="35" name="TextBox 35"/>
          <p:cNvSpPr txBox="1"/>
          <p:nvPr/>
        </p:nvSpPr>
        <p:spPr>
          <a:xfrm>
            <a:off x="12967119" y="3468635"/>
            <a:ext cx="4168694" cy="13046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265"/>
              </a:lnSpc>
              <a:spcBef>
                <a:spcPct val="0"/>
              </a:spcBef>
            </a:pPr>
            <a:r>
              <a:rPr lang="en-US" sz="3760" b="1" spc="41">
                <a:solidFill>
                  <a:srgbClr val="142F52"/>
                </a:solidFill>
                <a:latin typeface="Merriweather Bold" panose="00000800000000000000"/>
                <a:ea typeface="Merriweather Bold" panose="00000800000000000000"/>
                <a:cs typeface="Merriweather Bold" panose="00000800000000000000"/>
                <a:sym typeface="Merriweather Bold" panose="00000800000000000000"/>
              </a:rPr>
              <a:t>Static / Manual Scheduling</a:t>
            </a:r>
            <a:endParaRPr lang="en-US" sz="3760" b="1" spc="41">
              <a:solidFill>
                <a:srgbClr val="142F52"/>
              </a:solidFill>
              <a:latin typeface="Merriweather Bold" panose="00000800000000000000"/>
              <a:ea typeface="Merriweather Bold" panose="00000800000000000000"/>
              <a:cs typeface="Merriweather Bold" panose="00000800000000000000"/>
              <a:sym typeface="Merriweather Bold" panose="00000800000000000000"/>
            </a:endParaRPr>
          </a:p>
        </p:txBody>
      </p:sp>
      <p:sp>
        <p:nvSpPr>
          <p:cNvPr id="36" name="Freeform 36"/>
          <p:cNvSpPr/>
          <p:nvPr/>
        </p:nvSpPr>
        <p:spPr>
          <a:xfrm flipH="1" flipV="1">
            <a:off x="-3908616" y="7939728"/>
            <a:ext cx="14395802" cy="2637144"/>
          </a:xfrm>
          <a:custGeom>
            <a:avLst/>
            <a:gdLst/>
            <a:ahLst/>
            <a:cxnLst/>
            <a:rect l="l" t="t" r="r" b="b"/>
            <a:pathLst>
              <a:path w="14395802" h="2637144">
                <a:moveTo>
                  <a:pt x="14395802" y="2637144"/>
                </a:moveTo>
                <a:lnTo>
                  <a:pt x="0" y="2637144"/>
                </a:lnTo>
                <a:lnTo>
                  <a:pt x="0" y="0"/>
                </a:lnTo>
                <a:lnTo>
                  <a:pt x="14395802" y="0"/>
                </a:lnTo>
                <a:lnTo>
                  <a:pt x="14395802" y="2637144"/>
                </a:lnTo>
                <a:close/>
              </a:path>
            </a:pathLst>
          </a:custGeom>
          <a:blipFill>
            <a:blip r:embed="rId1"/>
            <a:stretch>
              <a:fillRect t="-212064"/>
            </a:stretch>
          </a:blipFill>
        </p:spPr>
      </p:sp>
      <p:grpSp>
        <p:nvGrpSpPr>
          <p:cNvPr id="37" name="Group 37"/>
          <p:cNvGrpSpPr/>
          <p:nvPr/>
        </p:nvGrpSpPr>
        <p:grpSpPr>
          <a:xfrm rot="0">
            <a:off x="587147" y="6865674"/>
            <a:ext cx="5085085" cy="2368876"/>
            <a:chOff x="0" y="0"/>
            <a:chExt cx="6780114" cy="3158501"/>
          </a:xfrm>
        </p:grpSpPr>
        <p:grpSp>
          <p:nvGrpSpPr>
            <p:cNvPr id="38" name="Group 38"/>
            <p:cNvGrpSpPr/>
            <p:nvPr/>
          </p:nvGrpSpPr>
          <p:grpSpPr>
            <a:xfrm rot="0">
              <a:off x="0" y="1811788"/>
              <a:ext cx="6780114" cy="1346714"/>
              <a:chOff x="0" y="0"/>
              <a:chExt cx="1339282" cy="266018"/>
            </a:xfrm>
          </p:grpSpPr>
          <p:sp>
            <p:nvSpPr>
              <p:cNvPr id="39" name="Freeform 39"/>
              <p:cNvSpPr/>
              <p:nvPr/>
            </p:nvSpPr>
            <p:spPr>
              <a:xfrm>
                <a:off x="0" y="0"/>
                <a:ext cx="1339282" cy="266018"/>
              </a:xfrm>
              <a:custGeom>
                <a:avLst/>
                <a:gdLst/>
                <a:ahLst/>
                <a:cxnLst/>
                <a:rect l="l" t="t" r="r" b="b"/>
                <a:pathLst>
                  <a:path w="1339282" h="266018">
                    <a:moveTo>
                      <a:pt x="77646" y="0"/>
                    </a:moveTo>
                    <a:lnTo>
                      <a:pt x="1261635" y="0"/>
                    </a:lnTo>
                    <a:cubicBezTo>
                      <a:pt x="1304518" y="0"/>
                      <a:pt x="1339282" y="34763"/>
                      <a:pt x="1339282" y="77646"/>
                    </a:cubicBezTo>
                    <a:lnTo>
                      <a:pt x="1339282" y="188371"/>
                    </a:lnTo>
                    <a:cubicBezTo>
                      <a:pt x="1339282" y="231254"/>
                      <a:pt x="1304518" y="266018"/>
                      <a:pt x="1261635" y="266018"/>
                    </a:cubicBezTo>
                    <a:lnTo>
                      <a:pt x="77646" y="266018"/>
                    </a:lnTo>
                    <a:cubicBezTo>
                      <a:pt x="57053" y="266018"/>
                      <a:pt x="37304" y="257837"/>
                      <a:pt x="22742" y="243275"/>
                    </a:cubicBezTo>
                    <a:cubicBezTo>
                      <a:pt x="8181" y="228714"/>
                      <a:pt x="0" y="208964"/>
                      <a:pt x="0" y="188371"/>
                    </a:cubicBezTo>
                    <a:lnTo>
                      <a:pt x="0" y="77646"/>
                    </a:lnTo>
                    <a:cubicBezTo>
                      <a:pt x="0" y="34763"/>
                      <a:pt x="34763" y="0"/>
                      <a:pt x="77646" y="0"/>
                    </a:cubicBezTo>
                    <a:close/>
                  </a:path>
                </a:pathLst>
              </a:custGeom>
              <a:solidFill>
                <a:srgbClr val="BDDEE8"/>
              </a:solidFill>
            </p:spPr>
          </p:sp>
          <p:sp>
            <p:nvSpPr>
              <p:cNvPr id="40" name="TextBox 40"/>
              <p:cNvSpPr txBox="1"/>
              <p:nvPr/>
            </p:nvSpPr>
            <p:spPr>
              <a:xfrm>
                <a:off x="0" y="-28575"/>
                <a:ext cx="1339282" cy="29459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grpSp>
          <p:nvGrpSpPr>
            <p:cNvPr id="41" name="Group 41"/>
            <p:cNvGrpSpPr/>
            <p:nvPr/>
          </p:nvGrpSpPr>
          <p:grpSpPr>
            <a:xfrm rot="0">
              <a:off x="207484" y="0"/>
              <a:ext cx="6372481" cy="3087519"/>
              <a:chOff x="0" y="0"/>
              <a:chExt cx="1258762" cy="609880"/>
            </a:xfrm>
          </p:grpSpPr>
          <p:sp>
            <p:nvSpPr>
              <p:cNvPr id="42" name="Freeform 42"/>
              <p:cNvSpPr/>
              <p:nvPr/>
            </p:nvSpPr>
            <p:spPr>
              <a:xfrm>
                <a:off x="0" y="0"/>
                <a:ext cx="1258762" cy="609880"/>
              </a:xfrm>
              <a:custGeom>
                <a:avLst/>
                <a:gdLst/>
                <a:ahLst/>
                <a:cxnLst/>
                <a:rect l="l" t="t" r="r" b="b"/>
                <a:pathLst>
                  <a:path w="1258762" h="609880">
                    <a:moveTo>
                      <a:pt x="82613" y="0"/>
                    </a:moveTo>
                    <a:lnTo>
                      <a:pt x="1176149" y="0"/>
                    </a:lnTo>
                    <a:cubicBezTo>
                      <a:pt x="1198059" y="0"/>
                      <a:pt x="1219072" y="8704"/>
                      <a:pt x="1234565" y="24197"/>
                    </a:cubicBezTo>
                    <a:cubicBezTo>
                      <a:pt x="1250058" y="39690"/>
                      <a:pt x="1258762" y="60703"/>
                      <a:pt x="1258762" y="82613"/>
                    </a:cubicBezTo>
                    <a:lnTo>
                      <a:pt x="1258762" y="527267"/>
                    </a:lnTo>
                    <a:cubicBezTo>
                      <a:pt x="1258762" y="572893"/>
                      <a:pt x="1221774" y="609880"/>
                      <a:pt x="1176149" y="609880"/>
                    </a:cubicBezTo>
                    <a:lnTo>
                      <a:pt x="82613" y="609880"/>
                    </a:lnTo>
                    <a:cubicBezTo>
                      <a:pt x="36987" y="609880"/>
                      <a:pt x="0" y="572893"/>
                      <a:pt x="0" y="527267"/>
                    </a:cubicBezTo>
                    <a:lnTo>
                      <a:pt x="0" y="82613"/>
                    </a:lnTo>
                    <a:cubicBezTo>
                      <a:pt x="0" y="36987"/>
                      <a:pt x="36987" y="0"/>
                      <a:pt x="82613" y="0"/>
                    </a:cubicBezTo>
                    <a:close/>
                  </a:path>
                </a:pathLst>
              </a:custGeom>
              <a:solidFill>
                <a:srgbClr val="E8ECEC"/>
              </a:solidFill>
            </p:spPr>
          </p:sp>
          <p:sp>
            <p:nvSpPr>
              <p:cNvPr id="43" name="TextBox 43"/>
              <p:cNvSpPr txBox="1"/>
              <p:nvPr/>
            </p:nvSpPr>
            <p:spPr>
              <a:xfrm>
                <a:off x="0" y="-28575"/>
                <a:ext cx="1258762" cy="63845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</p:grpSp>
      <p:grpSp>
        <p:nvGrpSpPr>
          <p:cNvPr id="44" name="Group 44"/>
          <p:cNvGrpSpPr/>
          <p:nvPr/>
        </p:nvGrpSpPr>
        <p:grpSpPr>
          <a:xfrm rot="5400000">
            <a:off x="2027698" y="5749734"/>
            <a:ext cx="2203983" cy="4543607"/>
            <a:chOff x="0" y="0"/>
            <a:chExt cx="1210953" cy="2496433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1210953" cy="2496433"/>
            </a:xfrm>
            <a:custGeom>
              <a:avLst/>
              <a:gdLst/>
              <a:ahLst/>
              <a:cxnLst/>
              <a:rect l="l" t="t" r="r" b="b"/>
              <a:pathLst>
                <a:path w="1210953" h="2496433">
                  <a:moveTo>
                    <a:pt x="179147" y="0"/>
                  </a:moveTo>
                  <a:lnTo>
                    <a:pt x="1031805" y="0"/>
                  </a:lnTo>
                  <a:cubicBezTo>
                    <a:pt x="1079318" y="0"/>
                    <a:pt x="1124885" y="18874"/>
                    <a:pt x="1158482" y="52471"/>
                  </a:cubicBezTo>
                  <a:cubicBezTo>
                    <a:pt x="1192078" y="86068"/>
                    <a:pt x="1210953" y="131635"/>
                    <a:pt x="1210953" y="179147"/>
                  </a:cubicBezTo>
                  <a:lnTo>
                    <a:pt x="1210953" y="2317285"/>
                  </a:lnTo>
                  <a:cubicBezTo>
                    <a:pt x="1210953" y="2364798"/>
                    <a:pt x="1192078" y="2410365"/>
                    <a:pt x="1158482" y="2443961"/>
                  </a:cubicBezTo>
                  <a:cubicBezTo>
                    <a:pt x="1124885" y="2477558"/>
                    <a:pt x="1079318" y="2496433"/>
                    <a:pt x="1031805" y="2496433"/>
                  </a:cubicBezTo>
                  <a:lnTo>
                    <a:pt x="179147" y="2496433"/>
                  </a:lnTo>
                  <a:cubicBezTo>
                    <a:pt x="131635" y="2496433"/>
                    <a:pt x="86068" y="2477558"/>
                    <a:pt x="52471" y="2443961"/>
                  </a:cubicBezTo>
                  <a:cubicBezTo>
                    <a:pt x="18874" y="2410365"/>
                    <a:pt x="0" y="2364798"/>
                    <a:pt x="0" y="2317285"/>
                  </a:cubicBezTo>
                  <a:lnTo>
                    <a:pt x="0" y="179147"/>
                  </a:lnTo>
                  <a:cubicBezTo>
                    <a:pt x="0" y="131635"/>
                    <a:pt x="18874" y="86068"/>
                    <a:pt x="52471" y="52471"/>
                  </a:cubicBezTo>
                  <a:cubicBezTo>
                    <a:pt x="86068" y="18874"/>
                    <a:pt x="131635" y="0"/>
                    <a:pt x="179147" y="0"/>
                  </a:cubicBezTo>
                  <a:close/>
                </a:path>
              </a:pathLst>
            </a:custGeom>
            <a:solidFill>
              <a:srgbClr val="0345E4">
                <a:alpha val="29804"/>
              </a:srgbClr>
            </a:solidFill>
          </p:spPr>
        </p:sp>
        <p:sp>
          <p:nvSpPr>
            <p:cNvPr id="46" name="TextBox 46"/>
            <p:cNvSpPr txBox="1"/>
            <p:nvPr/>
          </p:nvSpPr>
          <p:spPr>
            <a:xfrm>
              <a:off x="0" y="-38100"/>
              <a:ext cx="1210953" cy="25345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sp>
        <p:nvSpPr>
          <p:cNvPr id="47" name="TextBox 47"/>
          <p:cNvSpPr txBox="1"/>
          <p:nvPr/>
        </p:nvSpPr>
        <p:spPr>
          <a:xfrm>
            <a:off x="963504" y="7379625"/>
            <a:ext cx="4168694" cy="13046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265"/>
              </a:lnSpc>
              <a:spcBef>
                <a:spcPct val="0"/>
              </a:spcBef>
            </a:pPr>
            <a:r>
              <a:rPr lang="en-US" sz="3760" b="1" spc="41">
                <a:solidFill>
                  <a:srgbClr val="142F52"/>
                </a:solidFill>
                <a:latin typeface="Merriweather Bold" panose="00000800000000000000"/>
                <a:ea typeface="Merriweather Bold" panose="00000800000000000000"/>
                <a:cs typeface="Merriweather Bold" panose="00000800000000000000"/>
                <a:sym typeface="Merriweather Bold" panose="00000800000000000000"/>
              </a:rPr>
              <a:t>Poor Emergency Handling</a:t>
            </a:r>
            <a:endParaRPr lang="en-US" sz="3760" b="1" spc="41">
              <a:solidFill>
                <a:srgbClr val="142F52"/>
              </a:solidFill>
              <a:latin typeface="Merriweather Bold" panose="00000800000000000000"/>
              <a:ea typeface="Merriweather Bold" panose="00000800000000000000"/>
              <a:cs typeface="Merriweather Bold" panose="00000800000000000000"/>
              <a:sym typeface="Merriweather Bold" panose="00000800000000000000"/>
            </a:endParaRPr>
          </a:p>
        </p:txBody>
      </p:sp>
      <p:grpSp>
        <p:nvGrpSpPr>
          <p:cNvPr id="48" name="Group 48"/>
          <p:cNvGrpSpPr/>
          <p:nvPr/>
        </p:nvGrpSpPr>
        <p:grpSpPr>
          <a:xfrm rot="0">
            <a:off x="6588954" y="6865674"/>
            <a:ext cx="5085085" cy="2368876"/>
            <a:chOff x="0" y="0"/>
            <a:chExt cx="6780114" cy="3158501"/>
          </a:xfrm>
        </p:grpSpPr>
        <p:grpSp>
          <p:nvGrpSpPr>
            <p:cNvPr id="49" name="Group 49"/>
            <p:cNvGrpSpPr/>
            <p:nvPr/>
          </p:nvGrpSpPr>
          <p:grpSpPr>
            <a:xfrm rot="0">
              <a:off x="0" y="1811788"/>
              <a:ext cx="6780114" cy="1346714"/>
              <a:chOff x="0" y="0"/>
              <a:chExt cx="1339282" cy="266018"/>
            </a:xfrm>
          </p:grpSpPr>
          <p:sp>
            <p:nvSpPr>
              <p:cNvPr id="50" name="Freeform 50"/>
              <p:cNvSpPr/>
              <p:nvPr/>
            </p:nvSpPr>
            <p:spPr>
              <a:xfrm>
                <a:off x="0" y="0"/>
                <a:ext cx="1339282" cy="266018"/>
              </a:xfrm>
              <a:custGeom>
                <a:avLst/>
                <a:gdLst/>
                <a:ahLst/>
                <a:cxnLst/>
                <a:rect l="l" t="t" r="r" b="b"/>
                <a:pathLst>
                  <a:path w="1339282" h="266018">
                    <a:moveTo>
                      <a:pt x="77646" y="0"/>
                    </a:moveTo>
                    <a:lnTo>
                      <a:pt x="1261635" y="0"/>
                    </a:lnTo>
                    <a:cubicBezTo>
                      <a:pt x="1304518" y="0"/>
                      <a:pt x="1339282" y="34763"/>
                      <a:pt x="1339282" y="77646"/>
                    </a:cubicBezTo>
                    <a:lnTo>
                      <a:pt x="1339282" y="188371"/>
                    </a:lnTo>
                    <a:cubicBezTo>
                      <a:pt x="1339282" y="231254"/>
                      <a:pt x="1304518" y="266018"/>
                      <a:pt x="1261635" y="266018"/>
                    </a:cubicBezTo>
                    <a:lnTo>
                      <a:pt x="77646" y="266018"/>
                    </a:lnTo>
                    <a:cubicBezTo>
                      <a:pt x="57053" y="266018"/>
                      <a:pt x="37304" y="257837"/>
                      <a:pt x="22742" y="243275"/>
                    </a:cubicBezTo>
                    <a:cubicBezTo>
                      <a:pt x="8181" y="228714"/>
                      <a:pt x="0" y="208964"/>
                      <a:pt x="0" y="188371"/>
                    </a:cubicBezTo>
                    <a:lnTo>
                      <a:pt x="0" y="77646"/>
                    </a:lnTo>
                    <a:cubicBezTo>
                      <a:pt x="0" y="34763"/>
                      <a:pt x="34763" y="0"/>
                      <a:pt x="77646" y="0"/>
                    </a:cubicBezTo>
                    <a:close/>
                  </a:path>
                </a:pathLst>
              </a:custGeom>
              <a:solidFill>
                <a:srgbClr val="BDDEE8"/>
              </a:solidFill>
            </p:spPr>
          </p:sp>
          <p:sp>
            <p:nvSpPr>
              <p:cNvPr id="51" name="TextBox 51"/>
              <p:cNvSpPr txBox="1"/>
              <p:nvPr/>
            </p:nvSpPr>
            <p:spPr>
              <a:xfrm>
                <a:off x="0" y="-28575"/>
                <a:ext cx="1339282" cy="29459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grpSp>
          <p:nvGrpSpPr>
            <p:cNvPr id="52" name="Group 52"/>
            <p:cNvGrpSpPr/>
            <p:nvPr/>
          </p:nvGrpSpPr>
          <p:grpSpPr>
            <a:xfrm rot="0">
              <a:off x="207484" y="0"/>
              <a:ext cx="6372481" cy="3087519"/>
              <a:chOff x="0" y="0"/>
              <a:chExt cx="1258762" cy="609880"/>
            </a:xfrm>
          </p:grpSpPr>
          <p:sp>
            <p:nvSpPr>
              <p:cNvPr id="53" name="Freeform 53"/>
              <p:cNvSpPr/>
              <p:nvPr/>
            </p:nvSpPr>
            <p:spPr>
              <a:xfrm>
                <a:off x="0" y="0"/>
                <a:ext cx="1258762" cy="609880"/>
              </a:xfrm>
              <a:custGeom>
                <a:avLst/>
                <a:gdLst/>
                <a:ahLst/>
                <a:cxnLst/>
                <a:rect l="l" t="t" r="r" b="b"/>
                <a:pathLst>
                  <a:path w="1258762" h="609880">
                    <a:moveTo>
                      <a:pt x="82613" y="0"/>
                    </a:moveTo>
                    <a:lnTo>
                      <a:pt x="1176149" y="0"/>
                    </a:lnTo>
                    <a:cubicBezTo>
                      <a:pt x="1198059" y="0"/>
                      <a:pt x="1219072" y="8704"/>
                      <a:pt x="1234565" y="24197"/>
                    </a:cubicBezTo>
                    <a:cubicBezTo>
                      <a:pt x="1250058" y="39690"/>
                      <a:pt x="1258762" y="60703"/>
                      <a:pt x="1258762" y="82613"/>
                    </a:cubicBezTo>
                    <a:lnTo>
                      <a:pt x="1258762" y="527267"/>
                    </a:lnTo>
                    <a:cubicBezTo>
                      <a:pt x="1258762" y="572893"/>
                      <a:pt x="1221774" y="609880"/>
                      <a:pt x="1176149" y="609880"/>
                    </a:cubicBezTo>
                    <a:lnTo>
                      <a:pt x="82613" y="609880"/>
                    </a:lnTo>
                    <a:cubicBezTo>
                      <a:pt x="36987" y="609880"/>
                      <a:pt x="0" y="572893"/>
                      <a:pt x="0" y="527267"/>
                    </a:cubicBezTo>
                    <a:lnTo>
                      <a:pt x="0" y="82613"/>
                    </a:lnTo>
                    <a:cubicBezTo>
                      <a:pt x="0" y="36987"/>
                      <a:pt x="36987" y="0"/>
                      <a:pt x="82613" y="0"/>
                    </a:cubicBezTo>
                    <a:close/>
                  </a:path>
                </a:pathLst>
              </a:custGeom>
              <a:solidFill>
                <a:srgbClr val="E8ECEC"/>
              </a:solidFill>
            </p:spPr>
          </p:sp>
          <p:sp>
            <p:nvSpPr>
              <p:cNvPr id="54" name="TextBox 54"/>
              <p:cNvSpPr txBox="1"/>
              <p:nvPr/>
            </p:nvSpPr>
            <p:spPr>
              <a:xfrm>
                <a:off x="0" y="-28575"/>
                <a:ext cx="1258762" cy="63845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</p:grpSp>
      <p:grpSp>
        <p:nvGrpSpPr>
          <p:cNvPr id="55" name="Group 55"/>
          <p:cNvGrpSpPr/>
          <p:nvPr/>
        </p:nvGrpSpPr>
        <p:grpSpPr>
          <a:xfrm rot="5400000">
            <a:off x="8028344" y="5749734"/>
            <a:ext cx="2203983" cy="4543607"/>
            <a:chOff x="0" y="0"/>
            <a:chExt cx="1210953" cy="2496433"/>
          </a:xfrm>
        </p:grpSpPr>
        <p:sp>
          <p:nvSpPr>
            <p:cNvPr id="56" name="Freeform 56"/>
            <p:cNvSpPr/>
            <p:nvPr/>
          </p:nvSpPr>
          <p:spPr>
            <a:xfrm>
              <a:off x="0" y="0"/>
              <a:ext cx="1210953" cy="2496433"/>
            </a:xfrm>
            <a:custGeom>
              <a:avLst/>
              <a:gdLst/>
              <a:ahLst/>
              <a:cxnLst/>
              <a:rect l="l" t="t" r="r" b="b"/>
              <a:pathLst>
                <a:path w="1210953" h="2496433">
                  <a:moveTo>
                    <a:pt x="179147" y="0"/>
                  </a:moveTo>
                  <a:lnTo>
                    <a:pt x="1031805" y="0"/>
                  </a:lnTo>
                  <a:cubicBezTo>
                    <a:pt x="1079318" y="0"/>
                    <a:pt x="1124885" y="18874"/>
                    <a:pt x="1158482" y="52471"/>
                  </a:cubicBezTo>
                  <a:cubicBezTo>
                    <a:pt x="1192078" y="86068"/>
                    <a:pt x="1210953" y="131635"/>
                    <a:pt x="1210953" y="179147"/>
                  </a:cubicBezTo>
                  <a:lnTo>
                    <a:pt x="1210953" y="2317285"/>
                  </a:lnTo>
                  <a:cubicBezTo>
                    <a:pt x="1210953" y="2364798"/>
                    <a:pt x="1192078" y="2410365"/>
                    <a:pt x="1158482" y="2443961"/>
                  </a:cubicBezTo>
                  <a:cubicBezTo>
                    <a:pt x="1124885" y="2477558"/>
                    <a:pt x="1079318" y="2496433"/>
                    <a:pt x="1031805" y="2496433"/>
                  </a:cubicBezTo>
                  <a:lnTo>
                    <a:pt x="179147" y="2496433"/>
                  </a:lnTo>
                  <a:cubicBezTo>
                    <a:pt x="131635" y="2496433"/>
                    <a:pt x="86068" y="2477558"/>
                    <a:pt x="52471" y="2443961"/>
                  </a:cubicBezTo>
                  <a:cubicBezTo>
                    <a:pt x="18874" y="2410365"/>
                    <a:pt x="0" y="2364798"/>
                    <a:pt x="0" y="2317285"/>
                  </a:cubicBezTo>
                  <a:lnTo>
                    <a:pt x="0" y="179147"/>
                  </a:lnTo>
                  <a:cubicBezTo>
                    <a:pt x="0" y="131635"/>
                    <a:pt x="18874" y="86068"/>
                    <a:pt x="52471" y="52471"/>
                  </a:cubicBezTo>
                  <a:cubicBezTo>
                    <a:pt x="86068" y="18874"/>
                    <a:pt x="131635" y="0"/>
                    <a:pt x="179147" y="0"/>
                  </a:cubicBezTo>
                  <a:close/>
                </a:path>
              </a:pathLst>
            </a:custGeom>
            <a:solidFill>
              <a:srgbClr val="0345E4">
                <a:alpha val="29804"/>
              </a:srgbClr>
            </a:solidFill>
          </p:spPr>
        </p:sp>
        <p:sp>
          <p:nvSpPr>
            <p:cNvPr id="57" name="TextBox 57"/>
            <p:cNvSpPr txBox="1"/>
            <p:nvPr/>
          </p:nvSpPr>
          <p:spPr>
            <a:xfrm>
              <a:off x="0" y="-38100"/>
              <a:ext cx="1210953" cy="25345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sp>
        <p:nvSpPr>
          <p:cNvPr id="58" name="TextBox 58"/>
          <p:cNvSpPr txBox="1"/>
          <p:nvPr/>
        </p:nvSpPr>
        <p:spPr>
          <a:xfrm>
            <a:off x="7045989" y="7031088"/>
            <a:ext cx="4168694" cy="19713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265"/>
              </a:lnSpc>
              <a:spcBef>
                <a:spcPct val="0"/>
              </a:spcBef>
            </a:pPr>
            <a:r>
              <a:rPr lang="en-US" sz="3760" b="1" spc="41">
                <a:solidFill>
                  <a:srgbClr val="142F52"/>
                </a:solidFill>
                <a:latin typeface="Merriweather Bold" panose="00000800000000000000"/>
                <a:ea typeface="Merriweather Bold" panose="00000800000000000000"/>
                <a:cs typeface="Merriweather Bold" panose="00000800000000000000"/>
                <a:sym typeface="Merriweather Bold" panose="00000800000000000000"/>
              </a:rPr>
              <a:t>Lack of Predictive Delay Intelligence</a:t>
            </a:r>
            <a:endParaRPr lang="en-US" sz="3760" b="1" spc="41">
              <a:solidFill>
                <a:srgbClr val="142F52"/>
              </a:solidFill>
              <a:latin typeface="Merriweather Bold" panose="00000800000000000000"/>
              <a:ea typeface="Merriweather Bold" panose="00000800000000000000"/>
              <a:cs typeface="Merriweather Bold" panose="00000800000000000000"/>
              <a:sym typeface="Merriweather Bold" panose="00000800000000000000"/>
            </a:endParaRPr>
          </a:p>
        </p:txBody>
      </p:sp>
      <p:grpSp>
        <p:nvGrpSpPr>
          <p:cNvPr id="59" name="Group 59"/>
          <p:cNvGrpSpPr/>
          <p:nvPr/>
        </p:nvGrpSpPr>
        <p:grpSpPr>
          <a:xfrm rot="0">
            <a:off x="12306209" y="6815098"/>
            <a:ext cx="5367316" cy="2500352"/>
            <a:chOff x="0" y="0"/>
            <a:chExt cx="7156421" cy="3333803"/>
          </a:xfrm>
        </p:grpSpPr>
        <p:grpSp>
          <p:nvGrpSpPr>
            <p:cNvPr id="60" name="Group 60"/>
            <p:cNvGrpSpPr/>
            <p:nvPr/>
          </p:nvGrpSpPr>
          <p:grpSpPr>
            <a:xfrm rot="0">
              <a:off x="0" y="1912345"/>
              <a:ext cx="7156421" cy="1421458"/>
              <a:chOff x="0" y="0"/>
              <a:chExt cx="1339282" cy="266018"/>
            </a:xfrm>
          </p:grpSpPr>
          <p:sp>
            <p:nvSpPr>
              <p:cNvPr id="61" name="Freeform 61"/>
              <p:cNvSpPr/>
              <p:nvPr/>
            </p:nvSpPr>
            <p:spPr>
              <a:xfrm>
                <a:off x="0" y="0"/>
                <a:ext cx="1339282" cy="266018"/>
              </a:xfrm>
              <a:custGeom>
                <a:avLst/>
                <a:gdLst/>
                <a:ahLst/>
                <a:cxnLst/>
                <a:rect l="l" t="t" r="r" b="b"/>
                <a:pathLst>
                  <a:path w="1339282" h="266018">
                    <a:moveTo>
                      <a:pt x="77646" y="0"/>
                    </a:moveTo>
                    <a:lnTo>
                      <a:pt x="1261635" y="0"/>
                    </a:lnTo>
                    <a:cubicBezTo>
                      <a:pt x="1304518" y="0"/>
                      <a:pt x="1339282" y="34763"/>
                      <a:pt x="1339282" y="77646"/>
                    </a:cubicBezTo>
                    <a:lnTo>
                      <a:pt x="1339282" y="188371"/>
                    </a:lnTo>
                    <a:cubicBezTo>
                      <a:pt x="1339282" y="231254"/>
                      <a:pt x="1304518" y="266018"/>
                      <a:pt x="1261635" y="266018"/>
                    </a:cubicBezTo>
                    <a:lnTo>
                      <a:pt x="77646" y="266018"/>
                    </a:lnTo>
                    <a:cubicBezTo>
                      <a:pt x="57053" y="266018"/>
                      <a:pt x="37304" y="257837"/>
                      <a:pt x="22742" y="243275"/>
                    </a:cubicBezTo>
                    <a:cubicBezTo>
                      <a:pt x="8181" y="228714"/>
                      <a:pt x="0" y="208964"/>
                      <a:pt x="0" y="188371"/>
                    </a:cubicBezTo>
                    <a:lnTo>
                      <a:pt x="0" y="77646"/>
                    </a:lnTo>
                    <a:cubicBezTo>
                      <a:pt x="0" y="34763"/>
                      <a:pt x="34763" y="0"/>
                      <a:pt x="77646" y="0"/>
                    </a:cubicBezTo>
                    <a:close/>
                  </a:path>
                </a:pathLst>
              </a:custGeom>
              <a:solidFill>
                <a:srgbClr val="BDDEE8"/>
              </a:solidFill>
            </p:spPr>
          </p:sp>
          <p:sp>
            <p:nvSpPr>
              <p:cNvPr id="62" name="TextBox 62"/>
              <p:cNvSpPr txBox="1"/>
              <p:nvPr/>
            </p:nvSpPr>
            <p:spPr>
              <a:xfrm>
                <a:off x="0" y="-28575"/>
                <a:ext cx="1339282" cy="29459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grpSp>
          <p:nvGrpSpPr>
            <p:cNvPr id="63" name="Group 63"/>
            <p:cNvGrpSpPr/>
            <p:nvPr/>
          </p:nvGrpSpPr>
          <p:grpSpPr>
            <a:xfrm rot="0">
              <a:off x="219000" y="0"/>
              <a:ext cx="6726164" cy="3258881"/>
              <a:chOff x="0" y="0"/>
              <a:chExt cx="1258762" cy="609880"/>
            </a:xfrm>
          </p:grpSpPr>
          <p:sp>
            <p:nvSpPr>
              <p:cNvPr id="64" name="Freeform 64"/>
              <p:cNvSpPr/>
              <p:nvPr/>
            </p:nvSpPr>
            <p:spPr>
              <a:xfrm>
                <a:off x="0" y="0"/>
                <a:ext cx="1258762" cy="609880"/>
              </a:xfrm>
              <a:custGeom>
                <a:avLst/>
                <a:gdLst/>
                <a:ahLst/>
                <a:cxnLst/>
                <a:rect l="l" t="t" r="r" b="b"/>
                <a:pathLst>
                  <a:path w="1258762" h="609880">
                    <a:moveTo>
                      <a:pt x="82613" y="0"/>
                    </a:moveTo>
                    <a:lnTo>
                      <a:pt x="1176149" y="0"/>
                    </a:lnTo>
                    <a:cubicBezTo>
                      <a:pt x="1198059" y="0"/>
                      <a:pt x="1219072" y="8704"/>
                      <a:pt x="1234565" y="24197"/>
                    </a:cubicBezTo>
                    <a:cubicBezTo>
                      <a:pt x="1250058" y="39690"/>
                      <a:pt x="1258762" y="60703"/>
                      <a:pt x="1258762" y="82613"/>
                    </a:cubicBezTo>
                    <a:lnTo>
                      <a:pt x="1258762" y="527267"/>
                    </a:lnTo>
                    <a:cubicBezTo>
                      <a:pt x="1258762" y="572893"/>
                      <a:pt x="1221774" y="609880"/>
                      <a:pt x="1176149" y="609880"/>
                    </a:cubicBezTo>
                    <a:lnTo>
                      <a:pt x="82613" y="609880"/>
                    </a:lnTo>
                    <a:cubicBezTo>
                      <a:pt x="36987" y="609880"/>
                      <a:pt x="0" y="572893"/>
                      <a:pt x="0" y="527267"/>
                    </a:cubicBezTo>
                    <a:lnTo>
                      <a:pt x="0" y="82613"/>
                    </a:lnTo>
                    <a:cubicBezTo>
                      <a:pt x="0" y="36987"/>
                      <a:pt x="36987" y="0"/>
                      <a:pt x="82613" y="0"/>
                    </a:cubicBezTo>
                    <a:close/>
                  </a:path>
                </a:pathLst>
              </a:custGeom>
              <a:solidFill>
                <a:srgbClr val="E8ECEC"/>
              </a:solidFill>
            </p:spPr>
          </p:sp>
          <p:sp>
            <p:nvSpPr>
              <p:cNvPr id="65" name="TextBox 65"/>
              <p:cNvSpPr txBox="1"/>
              <p:nvPr/>
            </p:nvSpPr>
            <p:spPr>
              <a:xfrm>
                <a:off x="0" y="-28575"/>
                <a:ext cx="1258762" cy="63845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</p:grpSp>
      <p:grpSp>
        <p:nvGrpSpPr>
          <p:cNvPr id="66" name="Group 66"/>
          <p:cNvGrpSpPr/>
          <p:nvPr/>
        </p:nvGrpSpPr>
        <p:grpSpPr>
          <a:xfrm rot="5400000">
            <a:off x="13803322" y="5693641"/>
            <a:ext cx="2368876" cy="4712942"/>
            <a:chOff x="0" y="0"/>
            <a:chExt cx="1301552" cy="2589472"/>
          </a:xfrm>
        </p:grpSpPr>
        <p:sp>
          <p:nvSpPr>
            <p:cNvPr id="67" name="Freeform 67"/>
            <p:cNvSpPr/>
            <p:nvPr/>
          </p:nvSpPr>
          <p:spPr>
            <a:xfrm>
              <a:off x="0" y="0"/>
              <a:ext cx="1301551" cy="2589472"/>
            </a:xfrm>
            <a:custGeom>
              <a:avLst/>
              <a:gdLst/>
              <a:ahLst/>
              <a:cxnLst/>
              <a:rect l="l" t="t" r="r" b="b"/>
              <a:pathLst>
                <a:path w="1301551" h="2589472">
                  <a:moveTo>
                    <a:pt x="166677" y="0"/>
                  </a:moveTo>
                  <a:lnTo>
                    <a:pt x="1134874" y="0"/>
                  </a:lnTo>
                  <a:cubicBezTo>
                    <a:pt x="1226928" y="0"/>
                    <a:pt x="1301551" y="74624"/>
                    <a:pt x="1301551" y="166677"/>
                  </a:cubicBezTo>
                  <a:lnTo>
                    <a:pt x="1301551" y="2422794"/>
                  </a:lnTo>
                  <a:cubicBezTo>
                    <a:pt x="1301551" y="2514848"/>
                    <a:pt x="1226928" y="2589472"/>
                    <a:pt x="1134874" y="2589472"/>
                  </a:cubicBezTo>
                  <a:lnTo>
                    <a:pt x="166677" y="2589472"/>
                  </a:lnTo>
                  <a:cubicBezTo>
                    <a:pt x="74624" y="2589472"/>
                    <a:pt x="0" y="2514848"/>
                    <a:pt x="0" y="2422794"/>
                  </a:cubicBezTo>
                  <a:lnTo>
                    <a:pt x="0" y="166677"/>
                  </a:lnTo>
                  <a:cubicBezTo>
                    <a:pt x="0" y="74624"/>
                    <a:pt x="74624" y="0"/>
                    <a:pt x="166677" y="0"/>
                  </a:cubicBezTo>
                  <a:close/>
                </a:path>
              </a:pathLst>
            </a:custGeom>
            <a:solidFill>
              <a:srgbClr val="0345E4">
                <a:alpha val="29804"/>
              </a:srgbClr>
            </a:solidFill>
          </p:spPr>
        </p:sp>
        <p:sp>
          <p:nvSpPr>
            <p:cNvPr id="68" name="TextBox 68"/>
            <p:cNvSpPr txBox="1"/>
            <p:nvPr/>
          </p:nvSpPr>
          <p:spPr>
            <a:xfrm>
              <a:off x="0" y="-38100"/>
              <a:ext cx="1301552" cy="262757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sp>
        <p:nvSpPr>
          <p:cNvPr id="69" name="TextBox 69"/>
          <p:cNvSpPr txBox="1"/>
          <p:nvPr/>
        </p:nvSpPr>
        <p:spPr>
          <a:xfrm>
            <a:off x="12635503" y="7031088"/>
            <a:ext cx="4708728" cy="19713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265"/>
              </a:lnSpc>
              <a:spcBef>
                <a:spcPct val="0"/>
              </a:spcBef>
            </a:pPr>
            <a:r>
              <a:rPr lang="en-US" sz="3760" b="1" spc="41">
                <a:solidFill>
                  <a:srgbClr val="142F52"/>
                </a:solidFill>
                <a:latin typeface="Merriweather Bold" panose="00000800000000000000"/>
                <a:ea typeface="Merriweather Bold" panose="00000800000000000000"/>
                <a:cs typeface="Merriweather Bold" panose="00000800000000000000"/>
                <a:sym typeface="Merriweather Bold" panose="00000800000000000000"/>
              </a:rPr>
              <a:t>No Adaptive Scheduling Under Critial Conditions</a:t>
            </a:r>
            <a:endParaRPr lang="en-US" sz="3760" b="1" spc="41">
              <a:solidFill>
                <a:srgbClr val="142F52"/>
              </a:solidFill>
              <a:latin typeface="Merriweather Bold" panose="00000800000000000000"/>
              <a:ea typeface="Merriweather Bold" panose="00000800000000000000"/>
              <a:cs typeface="Merriweather Bold" panose="00000800000000000000"/>
              <a:sym typeface="Merriweather Bold" panose="00000800000000000000"/>
            </a:endParaRPr>
          </a:p>
        </p:txBody>
      </p:sp>
      <p:sp>
        <p:nvSpPr>
          <p:cNvPr id="70" name="Freeform 70"/>
          <p:cNvSpPr/>
          <p:nvPr/>
        </p:nvSpPr>
        <p:spPr>
          <a:xfrm rot="-10800000">
            <a:off x="11415804" y="-1439431"/>
            <a:ext cx="7691038" cy="3802655"/>
          </a:xfrm>
          <a:custGeom>
            <a:avLst/>
            <a:gdLst/>
            <a:ahLst/>
            <a:cxnLst/>
            <a:rect l="l" t="t" r="r" b="b"/>
            <a:pathLst>
              <a:path w="7691038" h="3802655">
                <a:moveTo>
                  <a:pt x="0" y="0"/>
                </a:moveTo>
                <a:lnTo>
                  <a:pt x="7691037" y="0"/>
                </a:lnTo>
                <a:lnTo>
                  <a:pt x="7691037" y="3802655"/>
                </a:lnTo>
                <a:lnTo>
                  <a:pt x="0" y="380265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71" name="Freeform 71"/>
          <p:cNvSpPr/>
          <p:nvPr/>
        </p:nvSpPr>
        <p:spPr>
          <a:xfrm>
            <a:off x="12254414" y="33482"/>
            <a:ext cx="5419111" cy="2183018"/>
          </a:xfrm>
          <a:custGeom>
            <a:avLst/>
            <a:gdLst/>
            <a:ahLst/>
            <a:cxnLst/>
            <a:rect l="l" t="t" r="r" b="b"/>
            <a:pathLst>
              <a:path w="5419111" h="2183018">
                <a:moveTo>
                  <a:pt x="0" y="0"/>
                </a:moveTo>
                <a:lnTo>
                  <a:pt x="5419111" y="0"/>
                </a:lnTo>
                <a:lnTo>
                  <a:pt x="5419111" y="2183018"/>
                </a:lnTo>
                <a:lnTo>
                  <a:pt x="0" y="218301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2F5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632230" y="191405"/>
            <a:ext cx="8929065" cy="10525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660"/>
              </a:lnSpc>
            </a:pPr>
            <a:r>
              <a:rPr lang="en-US" sz="6185" b="1">
                <a:solidFill>
                  <a:srgbClr val="FFFFFF"/>
                </a:solidFill>
                <a:latin typeface="Loubag Bold" panose="02020A03060303060403"/>
                <a:ea typeface="Loubag Bold" panose="02020A03060303060403"/>
                <a:cs typeface="Loubag Bold" panose="02020A03060303060403"/>
                <a:sym typeface="Loubag Bold" panose="02020A03060303060403"/>
              </a:rPr>
              <a:t>Proposed Solution</a:t>
            </a:r>
            <a:endParaRPr lang="en-US" sz="6185" b="1">
              <a:solidFill>
                <a:srgbClr val="FFFFFF"/>
              </a:solidFill>
              <a:latin typeface="Loubag Bold" panose="02020A03060303060403"/>
              <a:ea typeface="Loubag Bold" panose="02020A03060303060403"/>
              <a:cs typeface="Loubag Bold" panose="02020A03060303060403"/>
              <a:sym typeface="Loubag Bold" panose="02020A03060303060403"/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496199" y="1434492"/>
            <a:ext cx="17201129" cy="10205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750"/>
              </a:lnSpc>
            </a:pPr>
            <a:r>
              <a:rPr lang="en-US" sz="3570">
                <a:solidFill>
                  <a:srgbClr val="D1CEC9"/>
                </a:solidFill>
                <a:latin typeface="Kabel" panose="020D0402020204020903"/>
                <a:ea typeface="Kabel" panose="020D0402020204020903"/>
                <a:cs typeface="Kabel" panose="020D0402020204020903"/>
                <a:sym typeface="Kabel" panose="020D0402020204020903"/>
              </a:rPr>
              <a:t>We developed an AI-assisted runway scheduling system that combines prediction, optimization, safety constraints, and real-time control to improve airport operations.</a:t>
            </a:r>
            <a:endParaRPr lang="en-US" sz="3570">
              <a:solidFill>
                <a:srgbClr val="D1CEC9"/>
              </a:solidFill>
              <a:latin typeface="Kabel" panose="020D0402020204020903"/>
              <a:ea typeface="Kabel" panose="020D0402020204020903"/>
              <a:cs typeface="Kabel" panose="020D0402020204020903"/>
              <a:sym typeface="Kabel" panose="020D0402020204020903"/>
            </a:endParaRPr>
          </a:p>
        </p:txBody>
      </p:sp>
      <p:grpSp>
        <p:nvGrpSpPr>
          <p:cNvPr id="4" name="Group 4"/>
          <p:cNvGrpSpPr/>
          <p:nvPr/>
        </p:nvGrpSpPr>
        <p:grpSpPr>
          <a:xfrm rot="5400000">
            <a:off x="1627068" y="1322771"/>
            <a:ext cx="2973939" cy="5657614"/>
            <a:chOff x="0" y="0"/>
            <a:chExt cx="1633996" cy="310851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633996" cy="3108510"/>
            </a:xfrm>
            <a:custGeom>
              <a:avLst/>
              <a:gdLst/>
              <a:ahLst/>
              <a:cxnLst/>
              <a:rect l="l" t="t" r="r" b="b"/>
              <a:pathLst>
                <a:path w="1633996" h="3108510">
                  <a:moveTo>
                    <a:pt x="132766" y="0"/>
                  </a:moveTo>
                  <a:lnTo>
                    <a:pt x="1501230" y="0"/>
                  </a:lnTo>
                  <a:cubicBezTo>
                    <a:pt x="1536442" y="0"/>
                    <a:pt x="1570212" y="13988"/>
                    <a:pt x="1595110" y="38886"/>
                  </a:cubicBezTo>
                  <a:cubicBezTo>
                    <a:pt x="1620009" y="63785"/>
                    <a:pt x="1633996" y="97554"/>
                    <a:pt x="1633996" y="132766"/>
                  </a:cubicBezTo>
                  <a:lnTo>
                    <a:pt x="1633996" y="2975745"/>
                  </a:lnTo>
                  <a:cubicBezTo>
                    <a:pt x="1633996" y="3010956"/>
                    <a:pt x="1620009" y="3044726"/>
                    <a:pt x="1595110" y="3069624"/>
                  </a:cubicBezTo>
                  <a:cubicBezTo>
                    <a:pt x="1570212" y="3094523"/>
                    <a:pt x="1536442" y="3108510"/>
                    <a:pt x="1501230" y="3108510"/>
                  </a:cubicBezTo>
                  <a:lnTo>
                    <a:pt x="132766" y="3108510"/>
                  </a:lnTo>
                  <a:cubicBezTo>
                    <a:pt x="97554" y="3108510"/>
                    <a:pt x="63785" y="3094523"/>
                    <a:pt x="38886" y="3069624"/>
                  </a:cubicBezTo>
                  <a:cubicBezTo>
                    <a:pt x="13988" y="3044726"/>
                    <a:pt x="0" y="3010956"/>
                    <a:pt x="0" y="2975745"/>
                  </a:cubicBezTo>
                  <a:lnTo>
                    <a:pt x="0" y="132766"/>
                  </a:lnTo>
                  <a:cubicBezTo>
                    <a:pt x="0" y="97554"/>
                    <a:pt x="13988" y="63785"/>
                    <a:pt x="38886" y="38886"/>
                  </a:cubicBezTo>
                  <a:cubicBezTo>
                    <a:pt x="63785" y="13988"/>
                    <a:pt x="97554" y="0"/>
                    <a:pt x="132766" y="0"/>
                  </a:cubicBezTo>
                  <a:close/>
                </a:path>
              </a:pathLst>
            </a:custGeom>
            <a:solidFill>
              <a:srgbClr val="0345E4">
                <a:alpha val="29804"/>
              </a:srgbClr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1633996" cy="314661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572135" y="2827020"/>
            <a:ext cx="5804535" cy="50927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975"/>
              </a:lnSpc>
              <a:spcBef>
                <a:spcPct val="0"/>
              </a:spcBef>
            </a:pPr>
            <a:r>
              <a:rPr lang="en-US" sz="2840">
                <a:solidFill>
                  <a:srgbClr val="FFFFFF"/>
                </a:solidFill>
                <a:latin typeface="Merriweather" panose="00000500000000000000"/>
                <a:ea typeface="Merriweather" panose="00000500000000000000"/>
                <a:cs typeface="Merriweather" panose="00000500000000000000"/>
                <a:sym typeface="Merriweather" panose="00000500000000000000"/>
              </a:rPr>
              <a:t>Intelligent Flight Scheduling</a:t>
            </a:r>
            <a:endParaRPr lang="en-US" sz="2840">
              <a:solidFill>
                <a:srgbClr val="FFFFFF"/>
              </a:solidFill>
              <a:latin typeface="Merriweather" panose="00000500000000000000"/>
              <a:ea typeface="Merriweather" panose="00000500000000000000"/>
              <a:cs typeface="Merriweather" panose="00000500000000000000"/>
              <a:sym typeface="Merriweather" panose="00000500000000000000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572399" y="3468688"/>
            <a:ext cx="5255941" cy="19540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50"/>
              </a:lnSpc>
            </a:pPr>
            <a:r>
              <a:rPr lang="en-US" sz="3570">
                <a:solidFill>
                  <a:srgbClr val="D1CEC9"/>
                </a:solidFill>
                <a:latin typeface="Kabel" panose="020D0402020204020903"/>
                <a:ea typeface="Kabel" panose="020D0402020204020903"/>
                <a:cs typeface="Kabel" panose="020D0402020204020903"/>
                <a:sym typeface="Kabel" panose="020D0402020204020903"/>
              </a:rPr>
              <a:t>Dynamically schedules aircraft landings and takeoffs, optimizing runway slots based on priority, congestion, and safety.</a:t>
            </a:r>
            <a:endParaRPr lang="en-US" sz="3570">
              <a:solidFill>
                <a:srgbClr val="D1CEC9"/>
              </a:solidFill>
              <a:latin typeface="Kabel" panose="020D0402020204020903"/>
              <a:ea typeface="Kabel" panose="020D0402020204020903"/>
              <a:cs typeface="Kabel" panose="020D0402020204020903"/>
              <a:sym typeface="Kabel" panose="020D0402020204020903"/>
            </a:endParaRPr>
          </a:p>
        </p:txBody>
      </p:sp>
      <p:grpSp>
        <p:nvGrpSpPr>
          <p:cNvPr id="9" name="Group 9"/>
          <p:cNvGrpSpPr/>
          <p:nvPr/>
        </p:nvGrpSpPr>
        <p:grpSpPr>
          <a:xfrm rot="5400000">
            <a:off x="7298131" y="1636840"/>
            <a:ext cx="3088239" cy="5143776"/>
            <a:chOff x="0" y="0"/>
            <a:chExt cx="1696797" cy="2826188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696797" cy="2826188"/>
            </a:xfrm>
            <a:custGeom>
              <a:avLst/>
              <a:gdLst/>
              <a:ahLst/>
              <a:cxnLst/>
              <a:rect l="l" t="t" r="r" b="b"/>
              <a:pathLst>
                <a:path w="1696797" h="2826188">
                  <a:moveTo>
                    <a:pt x="127852" y="0"/>
                  </a:moveTo>
                  <a:lnTo>
                    <a:pt x="1568945" y="0"/>
                  </a:lnTo>
                  <a:cubicBezTo>
                    <a:pt x="1639556" y="0"/>
                    <a:pt x="1696797" y="57241"/>
                    <a:pt x="1696797" y="127852"/>
                  </a:cubicBezTo>
                  <a:lnTo>
                    <a:pt x="1696797" y="2698336"/>
                  </a:lnTo>
                  <a:cubicBezTo>
                    <a:pt x="1696797" y="2732244"/>
                    <a:pt x="1683327" y="2764764"/>
                    <a:pt x="1659350" y="2788741"/>
                  </a:cubicBezTo>
                  <a:cubicBezTo>
                    <a:pt x="1635373" y="2812718"/>
                    <a:pt x="1602854" y="2826188"/>
                    <a:pt x="1568945" y="2826188"/>
                  </a:cubicBezTo>
                  <a:lnTo>
                    <a:pt x="127852" y="2826188"/>
                  </a:lnTo>
                  <a:cubicBezTo>
                    <a:pt x="93944" y="2826188"/>
                    <a:pt x="61424" y="2812718"/>
                    <a:pt x="37447" y="2788741"/>
                  </a:cubicBezTo>
                  <a:cubicBezTo>
                    <a:pt x="13470" y="2764764"/>
                    <a:pt x="0" y="2732244"/>
                    <a:pt x="0" y="2698336"/>
                  </a:cubicBezTo>
                  <a:lnTo>
                    <a:pt x="0" y="127852"/>
                  </a:lnTo>
                  <a:cubicBezTo>
                    <a:pt x="0" y="93944"/>
                    <a:pt x="13470" y="61424"/>
                    <a:pt x="37447" y="37447"/>
                  </a:cubicBezTo>
                  <a:cubicBezTo>
                    <a:pt x="61424" y="13470"/>
                    <a:pt x="93944" y="0"/>
                    <a:pt x="127852" y="0"/>
                  </a:cubicBezTo>
                  <a:close/>
                </a:path>
              </a:pathLst>
            </a:custGeom>
            <a:solidFill>
              <a:srgbClr val="0345E4">
                <a:alpha val="29804"/>
              </a:srgbClr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1696797" cy="286428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6547123" y="2865052"/>
            <a:ext cx="4857490" cy="4803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75"/>
              </a:lnSpc>
              <a:spcBef>
                <a:spcPct val="0"/>
              </a:spcBef>
            </a:pPr>
            <a:r>
              <a:rPr lang="en-US" sz="2840">
                <a:solidFill>
                  <a:srgbClr val="FFFFFF"/>
                </a:solidFill>
                <a:latin typeface="Merriweather" panose="00000500000000000000"/>
                <a:ea typeface="Merriweather" panose="00000500000000000000"/>
                <a:cs typeface="Merriweather" panose="00000500000000000000"/>
                <a:sym typeface="Merriweather" panose="00000500000000000000"/>
              </a:rPr>
              <a:t>AI / ML Delay Prediction</a:t>
            </a:r>
            <a:endParaRPr lang="en-US" sz="2840">
              <a:solidFill>
                <a:srgbClr val="FFFFFF"/>
              </a:solidFill>
              <a:latin typeface="Merriweather" panose="00000500000000000000"/>
              <a:ea typeface="Merriweather" panose="00000500000000000000"/>
              <a:cs typeface="Merriweather" panose="00000500000000000000"/>
              <a:sym typeface="Merriweather" panose="00000500000000000000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6547123" y="3535869"/>
            <a:ext cx="4670406" cy="19540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50"/>
              </a:lnSpc>
            </a:pPr>
            <a:r>
              <a:rPr lang="en-US" sz="3570">
                <a:solidFill>
                  <a:srgbClr val="D1CEC9"/>
                </a:solidFill>
                <a:latin typeface="Kabel" panose="020D0402020204020903"/>
                <a:ea typeface="Kabel" panose="020D0402020204020903"/>
                <a:cs typeface="Kabel" panose="020D0402020204020903"/>
                <a:sym typeface="Kabel" panose="020D0402020204020903"/>
              </a:rPr>
              <a:t>Predicts delays before congestion escalates, estimates conflict risks, and recommends scheduling actions.</a:t>
            </a:r>
            <a:endParaRPr lang="en-US" sz="3570">
              <a:solidFill>
                <a:srgbClr val="D1CEC9"/>
              </a:solidFill>
              <a:latin typeface="Kabel" panose="020D0402020204020903"/>
              <a:ea typeface="Kabel" panose="020D0402020204020903"/>
              <a:cs typeface="Kabel" panose="020D0402020204020903"/>
              <a:sym typeface="Kabel" panose="020D0402020204020903"/>
            </a:endParaRPr>
          </a:p>
        </p:txBody>
      </p:sp>
      <p:grpSp>
        <p:nvGrpSpPr>
          <p:cNvPr id="14" name="Group 14"/>
          <p:cNvGrpSpPr/>
          <p:nvPr/>
        </p:nvGrpSpPr>
        <p:grpSpPr>
          <a:xfrm rot="5400000">
            <a:off x="3353058" y="2932671"/>
            <a:ext cx="3928217" cy="10063871"/>
            <a:chOff x="0" y="0"/>
            <a:chExt cx="2158313" cy="5529478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2158313" cy="5529478"/>
            </a:xfrm>
            <a:custGeom>
              <a:avLst/>
              <a:gdLst/>
              <a:ahLst/>
              <a:cxnLst/>
              <a:rect l="l" t="t" r="r" b="b"/>
              <a:pathLst>
                <a:path w="2158313" h="5529478">
                  <a:moveTo>
                    <a:pt x="100513" y="0"/>
                  </a:moveTo>
                  <a:lnTo>
                    <a:pt x="2057800" y="0"/>
                  </a:lnTo>
                  <a:cubicBezTo>
                    <a:pt x="2113312" y="0"/>
                    <a:pt x="2158313" y="45001"/>
                    <a:pt x="2158313" y="100513"/>
                  </a:cubicBezTo>
                  <a:lnTo>
                    <a:pt x="2158313" y="5428964"/>
                  </a:lnTo>
                  <a:cubicBezTo>
                    <a:pt x="2158313" y="5455622"/>
                    <a:pt x="2147724" y="5481188"/>
                    <a:pt x="2128874" y="5500038"/>
                  </a:cubicBezTo>
                  <a:cubicBezTo>
                    <a:pt x="2110024" y="5518888"/>
                    <a:pt x="2084458" y="5529478"/>
                    <a:pt x="2057800" y="5529478"/>
                  </a:cubicBezTo>
                  <a:lnTo>
                    <a:pt x="100513" y="5529478"/>
                  </a:lnTo>
                  <a:cubicBezTo>
                    <a:pt x="45001" y="5529478"/>
                    <a:pt x="0" y="5484476"/>
                    <a:pt x="0" y="5428964"/>
                  </a:cubicBezTo>
                  <a:lnTo>
                    <a:pt x="0" y="100513"/>
                  </a:lnTo>
                  <a:cubicBezTo>
                    <a:pt x="0" y="45001"/>
                    <a:pt x="45001" y="0"/>
                    <a:pt x="100513" y="0"/>
                  </a:cubicBezTo>
                  <a:close/>
                </a:path>
              </a:pathLst>
            </a:custGeom>
            <a:solidFill>
              <a:srgbClr val="0345E4">
                <a:alpha val="29804"/>
              </a:srgbClr>
            </a:solidFill>
          </p:spPr>
        </p:sp>
        <p:sp>
          <p:nvSpPr>
            <p:cNvPr id="16" name="TextBox 16"/>
            <p:cNvSpPr txBox="1"/>
            <p:nvPr/>
          </p:nvSpPr>
          <p:spPr>
            <a:xfrm>
              <a:off x="0" y="-38100"/>
              <a:ext cx="2158313" cy="556757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sp>
        <p:nvSpPr>
          <p:cNvPr id="17" name="TextBox 17"/>
          <p:cNvSpPr txBox="1"/>
          <p:nvPr/>
        </p:nvSpPr>
        <p:spPr>
          <a:xfrm>
            <a:off x="1028700" y="6161047"/>
            <a:ext cx="8048713" cy="5185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55"/>
              </a:lnSpc>
              <a:spcBef>
                <a:spcPct val="0"/>
              </a:spcBef>
            </a:pPr>
            <a:r>
              <a:rPr lang="en-US" sz="3040">
                <a:solidFill>
                  <a:srgbClr val="FFFFFF"/>
                </a:solidFill>
                <a:latin typeface="Merriweather" panose="00000500000000000000"/>
                <a:ea typeface="Merriweather" panose="00000500000000000000"/>
                <a:cs typeface="Merriweather" panose="00000500000000000000"/>
                <a:sym typeface="Merriweather" panose="00000500000000000000"/>
              </a:rPr>
              <a:t>Hybrid Adaptive Scheduling Engline</a:t>
            </a:r>
            <a:endParaRPr lang="en-US" sz="3040">
              <a:solidFill>
                <a:srgbClr val="FFFFFF"/>
              </a:solidFill>
              <a:latin typeface="Merriweather" panose="00000500000000000000"/>
              <a:ea typeface="Merriweather" panose="00000500000000000000"/>
              <a:cs typeface="Merriweather" panose="00000500000000000000"/>
              <a:sym typeface="Merriweather" panose="00000500000000000000"/>
            </a:endParaRPr>
          </a:p>
        </p:txBody>
      </p:sp>
      <p:sp>
        <p:nvSpPr>
          <p:cNvPr id="18" name="TextBox 18"/>
          <p:cNvSpPr txBox="1"/>
          <p:nvPr/>
        </p:nvSpPr>
        <p:spPr>
          <a:xfrm>
            <a:off x="647901" y="6870057"/>
            <a:ext cx="9314045" cy="28875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50"/>
              </a:lnSpc>
            </a:pPr>
            <a:r>
              <a:rPr lang="en-US" sz="3570">
                <a:solidFill>
                  <a:srgbClr val="D1CEC9"/>
                </a:solidFill>
                <a:latin typeface="Kabel" panose="020D0402020204020903"/>
                <a:ea typeface="Kabel" panose="020D0402020204020903"/>
                <a:cs typeface="Kabel" panose="020D0402020204020903"/>
                <a:sym typeface="Kabel" panose="020D0402020204020903"/>
              </a:rPr>
              <a:t>Uses multiple scheduling algorithms and automatically switches based on traffic condition:</a:t>
            </a:r>
            <a:endParaRPr lang="en-US" sz="3570">
              <a:solidFill>
                <a:srgbClr val="D1CEC9"/>
              </a:solidFill>
              <a:latin typeface="Kabel" panose="020D0402020204020903"/>
              <a:ea typeface="Kabel" panose="020D0402020204020903"/>
              <a:cs typeface="Kabel" panose="020D0402020204020903"/>
              <a:sym typeface="Kabel" panose="020D0402020204020903"/>
            </a:endParaRPr>
          </a:p>
          <a:p>
            <a:pPr marL="770890" lvl="1" indent="-385445" algn="l">
              <a:lnSpc>
                <a:spcPts val="3750"/>
              </a:lnSpc>
              <a:buFont typeface="Arial" panose="020B0604020202020204"/>
              <a:buChar char="•"/>
            </a:pPr>
            <a:r>
              <a:rPr lang="en-US" sz="3570">
                <a:solidFill>
                  <a:srgbClr val="D1CEC9"/>
                </a:solidFill>
                <a:latin typeface="Kabel" panose="020D0402020204020903"/>
                <a:ea typeface="Kabel" panose="020D0402020204020903"/>
                <a:cs typeface="Kabel" panose="020D0402020204020903"/>
                <a:sym typeface="Kabel" panose="020D0402020204020903"/>
              </a:rPr>
              <a:t>Normal traffic → FCFS</a:t>
            </a:r>
            <a:endParaRPr lang="en-US" sz="3570">
              <a:solidFill>
                <a:srgbClr val="D1CEC9"/>
              </a:solidFill>
              <a:latin typeface="Kabel" panose="020D0402020204020903"/>
              <a:ea typeface="Kabel" panose="020D0402020204020903"/>
              <a:cs typeface="Kabel" panose="020D0402020204020903"/>
              <a:sym typeface="Kabel" panose="020D0402020204020903"/>
            </a:endParaRPr>
          </a:p>
          <a:p>
            <a:pPr marL="770890" lvl="1" indent="-385445" algn="l">
              <a:lnSpc>
                <a:spcPts val="3750"/>
              </a:lnSpc>
              <a:buFont typeface="Arial" panose="020B0604020202020204"/>
              <a:buChar char="•"/>
            </a:pPr>
            <a:r>
              <a:rPr lang="en-US" sz="3570">
                <a:solidFill>
                  <a:srgbClr val="D1CEC9"/>
                </a:solidFill>
                <a:latin typeface="Kabel" panose="020D0402020204020903"/>
                <a:ea typeface="Kabel" panose="020D0402020204020903"/>
                <a:cs typeface="Kabel" panose="020D0402020204020903"/>
                <a:sym typeface="Kabel" panose="020D0402020204020903"/>
              </a:rPr>
              <a:t>Congestion → Greedy Min Delay</a:t>
            </a:r>
            <a:endParaRPr lang="en-US" sz="3570">
              <a:solidFill>
                <a:srgbClr val="D1CEC9"/>
              </a:solidFill>
              <a:latin typeface="Kabel" panose="020D0402020204020903"/>
              <a:ea typeface="Kabel" panose="020D0402020204020903"/>
              <a:cs typeface="Kabel" panose="020D0402020204020903"/>
              <a:sym typeface="Kabel" panose="020D0402020204020903"/>
            </a:endParaRPr>
          </a:p>
          <a:p>
            <a:pPr marL="770890" lvl="1" indent="-385445" algn="l">
              <a:lnSpc>
                <a:spcPts val="3750"/>
              </a:lnSpc>
              <a:buFont typeface="Arial" panose="020B0604020202020204"/>
              <a:buChar char="•"/>
            </a:pPr>
            <a:r>
              <a:rPr lang="en-US" sz="3570">
                <a:solidFill>
                  <a:srgbClr val="D1CEC9"/>
                </a:solidFill>
                <a:latin typeface="Kabel" panose="020D0402020204020903"/>
                <a:ea typeface="Kabel" panose="020D0402020204020903"/>
                <a:cs typeface="Kabel" panose="020D0402020204020903"/>
                <a:sym typeface="Kabel" panose="020D0402020204020903"/>
              </a:rPr>
              <a:t>Emergencies → Preemptive, Priority</a:t>
            </a:r>
            <a:endParaRPr lang="en-US" sz="3570">
              <a:solidFill>
                <a:srgbClr val="D1CEC9"/>
              </a:solidFill>
              <a:latin typeface="Kabel" panose="020D0402020204020903"/>
              <a:ea typeface="Kabel" panose="020D0402020204020903"/>
              <a:cs typeface="Kabel" panose="020D0402020204020903"/>
              <a:sym typeface="Kabel" panose="020D0402020204020903"/>
            </a:endParaRPr>
          </a:p>
          <a:p>
            <a:pPr marL="770890" lvl="1" indent="-385445" algn="l">
              <a:lnSpc>
                <a:spcPts val="3750"/>
              </a:lnSpc>
              <a:buFont typeface="Arial" panose="020B0604020202020204"/>
              <a:buChar char="•"/>
            </a:pPr>
            <a:r>
              <a:rPr lang="en-US" sz="3570">
                <a:solidFill>
                  <a:srgbClr val="D1CEC9"/>
                </a:solidFill>
                <a:latin typeface="Kabel" panose="020D0402020204020903"/>
                <a:ea typeface="Kabel" panose="020D0402020204020903"/>
                <a:cs typeface="Kabel" panose="020D0402020204020903"/>
                <a:sym typeface="Kabel" panose="020D0402020204020903"/>
              </a:rPr>
              <a:t>High-risk situations → Hybrid Adaptive AI</a:t>
            </a:r>
            <a:endParaRPr lang="en-US" sz="3570">
              <a:solidFill>
                <a:srgbClr val="D1CEC9"/>
              </a:solidFill>
              <a:latin typeface="Kabel" panose="020D0402020204020903"/>
              <a:ea typeface="Kabel" panose="020D0402020204020903"/>
              <a:cs typeface="Kabel" panose="020D0402020204020903"/>
              <a:sym typeface="Kabel" panose="020D0402020204020903"/>
            </a:endParaRPr>
          </a:p>
        </p:txBody>
      </p:sp>
      <p:grpSp>
        <p:nvGrpSpPr>
          <p:cNvPr id="19" name="Group 19"/>
          <p:cNvGrpSpPr/>
          <p:nvPr/>
        </p:nvGrpSpPr>
        <p:grpSpPr>
          <a:xfrm rot="5400000">
            <a:off x="13335525" y="982294"/>
            <a:ext cx="2973939" cy="6338568"/>
            <a:chOff x="0" y="0"/>
            <a:chExt cx="1633996" cy="3482653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1633996" cy="3482653"/>
            </a:xfrm>
            <a:custGeom>
              <a:avLst/>
              <a:gdLst/>
              <a:ahLst/>
              <a:cxnLst/>
              <a:rect l="l" t="t" r="r" b="b"/>
              <a:pathLst>
                <a:path w="1633996" h="3482653">
                  <a:moveTo>
                    <a:pt x="132766" y="0"/>
                  </a:moveTo>
                  <a:lnTo>
                    <a:pt x="1501230" y="0"/>
                  </a:lnTo>
                  <a:cubicBezTo>
                    <a:pt x="1536442" y="0"/>
                    <a:pt x="1570212" y="13988"/>
                    <a:pt x="1595110" y="38886"/>
                  </a:cubicBezTo>
                  <a:cubicBezTo>
                    <a:pt x="1620009" y="63785"/>
                    <a:pt x="1633996" y="97554"/>
                    <a:pt x="1633996" y="132766"/>
                  </a:cubicBezTo>
                  <a:lnTo>
                    <a:pt x="1633996" y="3349887"/>
                  </a:lnTo>
                  <a:cubicBezTo>
                    <a:pt x="1633996" y="3385099"/>
                    <a:pt x="1620009" y="3418868"/>
                    <a:pt x="1595110" y="3443767"/>
                  </a:cubicBezTo>
                  <a:cubicBezTo>
                    <a:pt x="1570212" y="3468665"/>
                    <a:pt x="1536442" y="3482653"/>
                    <a:pt x="1501230" y="3482653"/>
                  </a:cubicBezTo>
                  <a:lnTo>
                    <a:pt x="132766" y="3482653"/>
                  </a:lnTo>
                  <a:cubicBezTo>
                    <a:pt x="97554" y="3482653"/>
                    <a:pt x="63785" y="3468665"/>
                    <a:pt x="38886" y="3443767"/>
                  </a:cubicBezTo>
                  <a:cubicBezTo>
                    <a:pt x="13988" y="3418868"/>
                    <a:pt x="0" y="3385099"/>
                    <a:pt x="0" y="3349887"/>
                  </a:cubicBezTo>
                  <a:lnTo>
                    <a:pt x="0" y="132766"/>
                  </a:lnTo>
                  <a:cubicBezTo>
                    <a:pt x="0" y="97554"/>
                    <a:pt x="13988" y="63785"/>
                    <a:pt x="38886" y="38886"/>
                  </a:cubicBezTo>
                  <a:cubicBezTo>
                    <a:pt x="63785" y="13988"/>
                    <a:pt x="97554" y="0"/>
                    <a:pt x="132766" y="0"/>
                  </a:cubicBezTo>
                  <a:close/>
                </a:path>
              </a:pathLst>
            </a:custGeom>
            <a:solidFill>
              <a:srgbClr val="0345E4">
                <a:alpha val="29804"/>
              </a:srgbClr>
            </a:solidFill>
          </p:spPr>
        </p:sp>
        <p:sp>
          <p:nvSpPr>
            <p:cNvPr id="21" name="TextBox 21"/>
            <p:cNvSpPr txBox="1"/>
            <p:nvPr/>
          </p:nvSpPr>
          <p:spPr>
            <a:xfrm>
              <a:off x="0" y="-38100"/>
              <a:ext cx="1633996" cy="352075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sp>
        <p:nvSpPr>
          <p:cNvPr id="22" name="TextBox 22"/>
          <p:cNvSpPr txBox="1"/>
          <p:nvPr/>
        </p:nvSpPr>
        <p:spPr>
          <a:xfrm>
            <a:off x="12004688" y="2865052"/>
            <a:ext cx="5692639" cy="4803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75"/>
              </a:lnSpc>
              <a:spcBef>
                <a:spcPct val="0"/>
              </a:spcBef>
            </a:pPr>
            <a:r>
              <a:rPr lang="en-US" sz="2840">
                <a:solidFill>
                  <a:srgbClr val="FFFFFF"/>
                </a:solidFill>
                <a:latin typeface="Merriweather" panose="00000500000000000000"/>
                <a:ea typeface="Merriweather" panose="00000500000000000000"/>
                <a:cs typeface="Merriweather" panose="00000500000000000000"/>
                <a:sym typeface="Merriweather" panose="00000500000000000000"/>
              </a:rPr>
              <a:t>Conflict-Aware Safe Scheduling</a:t>
            </a:r>
            <a:endParaRPr lang="en-US" sz="2840">
              <a:solidFill>
                <a:srgbClr val="FFFFFF"/>
              </a:solidFill>
              <a:latin typeface="Merriweather" panose="00000500000000000000"/>
              <a:ea typeface="Merriweather" panose="00000500000000000000"/>
              <a:cs typeface="Merriweather" panose="00000500000000000000"/>
              <a:sym typeface="Merriweather" panose="00000500000000000000"/>
            </a:endParaRPr>
          </a:p>
        </p:txBody>
      </p:sp>
      <p:sp>
        <p:nvSpPr>
          <p:cNvPr id="23" name="TextBox 23"/>
          <p:cNvSpPr txBox="1"/>
          <p:nvPr/>
        </p:nvSpPr>
        <p:spPr>
          <a:xfrm>
            <a:off x="12004688" y="3459554"/>
            <a:ext cx="5692639" cy="19540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50"/>
              </a:lnSpc>
            </a:pPr>
            <a:r>
              <a:rPr lang="en-US" sz="3570">
                <a:solidFill>
                  <a:srgbClr val="D1CEC9"/>
                </a:solidFill>
                <a:latin typeface="Kabel" panose="020D0402020204020903"/>
                <a:ea typeface="Kabel" panose="020D0402020204020903"/>
                <a:cs typeface="Kabel" panose="020D0402020204020903"/>
                <a:sym typeface="Kabel" panose="020D0402020204020903"/>
              </a:rPr>
              <a:t>Manages wake turbulence separation, detects runway interval conflicts, and applies dynamic safety buffers.</a:t>
            </a:r>
            <a:endParaRPr lang="en-US" sz="3570">
              <a:solidFill>
                <a:srgbClr val="D1CEC9"/>
              </a:solidFill>
              <a:latin typeface="Kabel" panose="020D0402020204020903"/>
              <a:ea typeface="Kabel" panose="020D0402020204020903"/>
              <a:cs typeface="Kabel" panose="020D0402020204020903"/>
              <a:sym typeface="Kabel" panose="020D0402020204020903"/>
            </a:endParaRPr>
          </a:p>
        </p:txBody>
      </p:sp>
      <p:grpSp>
        <p:nvGrpSpPr>
          <p:cNvPr id="24" name="Group 24"/>
          <p:cNvGrpSpPr/>
          <p:nvPr/>
        </p:nvGrpSpPr>
        <p:grpSpPr>
          <a:xfrm rot="5400000">
            <a:off x="12663918" y="4454078"/>
            <a:ext cx="3563742" cy="7091979"/>
            <a:chOff x="0" y="0"/>
            <a:chExt cx="1958057" cy="3896606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1958057" cy="3896606"/>
            </a:xfrm>
            <a:custGeom>
              <a:avLst/>
              <a:gdLst/>
              <a:ahLst/>
              <a:cxnLst/>
              <a:rect l="l" t="t" r="r" b="b"/>
              <a:pathLst>
                <a:path w="1958057" h="3896606">
                  <a:moveTo>
                    <a:pt x="110793" y="0"/>
                  </a:moveTo>
                  <a:lnTo>
                    <a:pt x="1847264" y="0"/>
                  </a:lnTo>
                  <a:cubicBezTo>
                    <a:pt x="1876648" y="0"/>
                    <a:pt x="1904828" y="11673"/>
                    <a:pt x="1925606" y="32451"/>
                  </a:cubicBezTo>
                  <a:cubicBezTo>
                    <a:pt x="1946384" y="53228"/>
                    <a:pt x="1958057" y="81409"/>
                    <a:pt x="1958057" y="110793"/>
                  </a:cubicBezTo>
                  <a:lnTo>
                    <a:pt x="1958057" y="3785813"/>
                  </a:lnTo>
                  <a:cubicBezTo>
                    <a:pt x="1958057" y="3815197"/>
                    <a:pt x="1946384" y="3843378"/>
                    <a:pt x="1925606" y="3864156"/>
                  </a:cubicBezTo>
                  <a:cubicBezTo>
                    <a:pt x="1904828" y="3884933"/>
                    <a:pt x="1876648" y="3896606"/>
                    <a:pt x="1847264" y="3896606"/>
                  </a:cubicBezTo>
                  <a:lnTo>
                    <a:pt x="110793" y="3896606"/>
                  </a:lnTo>
                  <a:cubicBezTo>
                    <a:pt x="81409" y="3896606"/>
                    <a:pt x="53228" y="3884933"/>
                    <a:pt x="32451" y="3864156"/>
                  </a:cubicBezTo>
                  <a:cubicBezTo>
                    <a:pt x="11673" y="3843378"/>
                    <a:pt x="0" y="3815197"/>
                    <a:pt x="0" y="3785813"/>
                  </a:cubicBezTo>
                  <a:lnTo>
                    <a:pt x="0" y="110793"/>
                  </a:lnTo>
                  <a:cubicBezTo>
                    <a:pt x="0" y="81409"/>
                    <a:pt x="11673" y="53228"/>
                    <a:pt x="32451" y="32451"/>
                  </a:cubicBezTo>
                  <a:cubicBezTo>
                    <a:pt x="53228" y="11673"/>
                    <a:pt x="81409" y="0"/>
                    <a:pt x="110793" y="0"/>
                  </a:cubicBezTo>
                  <a:close/>
                </a:path>
              </a:pathLst>
            </a:custGeom>
            <a:solidFill>
              <a:srgbClr val="0345E4">
                <a:alpha val="29804"/>
              </a:srgbClr>
            </a:solidFill>
          </p:spPr>
        </p:sp>
        <p:sp>
          <p:nvSpPr>
            <p:cNvPr id="26" name="TextBox 26"/>
            <p:cNvSpPr txBox="1"/>
            <p:nvPr/>
          </p:nvSpPr>
          <p:spPr>
            <a:xfrm>
              <a:off x="0" y="-38100"/>
              <a:ext cx="1958057" cy="393470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sp>
        <p:nvSpPr>
          <p:cNvPr id="27" name="TextBox 27"/>
          <p:cNvSpPr txBox="1"/>
          <p:nvPr/>
        </p:nvSpPr>
        <p:spPr>
          <a:xfrm>
            <a:off x="11670955" y="6370597"/>
            <a:ext cx="5588345" cy="5185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55"/>
              </a:lnSpc>
              <a:spcBef>
                <a:spcPct val="0"/>
              </a:spcBef>
            </a:pPr>
            <a:r>
              <a:rPr lang="en-US" sz="3040">
                <a:solidFill>
                  <a:srgbClr val="FFFFFF"/>
                </a:solidFill>
                <a:latin typeface="Merriweather" panose="00000500000000000000"/>
                <a:ea typeface="Merriweather" panose="00000500000000000000"/>
                <a:cs typeface="Merriweather" panose="00000500000000000000"/>
                <a:sym typeface="Merriweather" panose="00000500000000000000"/>
              </a:rPr>
              <a:t>Core Optimization Objective</a:t>
            </a:r>
            <a:endParaRPr lang="en-US" sz="3040">
              <a:solidFill>
                <a:srgbClr val="FFFFFF"/>
              </a:solidFill>
              <a:latin typeface="Merriweather" panose="00000500000000000000"/>
              <a:ea typeface="Merriweather" panose="00000500000000000000"/>
              <a:cs typeface="Merriweather" panose="00000500000000000000"/>
              <a:sym typeface="Merriweather" panose="00000500000000000000"/>
            </a:endParaRPr>
          </a:p>
        </p:txBody>
      </p:sp>
      <p:sp>
        <p:nvSpPr>
          <p:cNvPr id="28" name="TextBox 28"/>
          <p:cNvSpPr txBox="1"/>
          <p:nvPr/>
        </p:nvSpPr>
        <p:spPr>
          <a:xfrm>
            <a:off x="11204090" y="8055968"/>
            <a:ext cx="6333710" cy="14873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50"/>
              </a:lnSpc>
            </a:pPr>
            <a:r>
              <a:rPr lang="en-US" sz="3570">
                <a:solidFill>
                  <a:srgbClr val="D1CEC9"/>
                </a:solidFill>
                <a:latin typeface="Kabel" panose="020D0402020204020903"/>
                <a:ea typeface="Kabel" panose="020D0402020204020903"/>
                <a:cs typeface="Kabel" panose="020D0402020204020903"/>
                <a:sym typeface="Kabel" panose="020D0402020204020903"/>
              </a:rPr>
              <a:t>Optimizes scheduling by minimizing delay and conflict risk while maximizing throughput.</a:t>
            </a:r>
            <a:endParaRPr lang="en-US" sz="3570">
              <a:solidFill>
                <a:srgbClr val="D1CEC9"/>
              </a:solidFill>
              <a:latin typeface="Kabel" panose="020D0402020204020903"/>
              <a:ea typeface="Kabel" panose="020D0402020204020903"/>
              <a:cs typeface="Kabel" panose="020D0402020204020903"/>
              <a:sym typeface="Kabel" panose="020D0402020204020903"/>
            </a:endParaRPr>
          </a:p>
        </p:txBody>
      </p:sp>
      <p:sp>
        <p:nvSpPr>
          <p:cNvPr id="30" name="Freeform 30"/>
          <p:cNvSpPr/>
          <p:nvPr/>
        </p:nvSpPr>
        <p:spPr>
          <a:xfrm>
            <a:off x="13318193" y="233941"/>
            <a:ext cx="3027531" cy="1219601"/>
          </a:xfrm>
          <a:custGeom>
            <a:avLst/>
            <a:gdLst/>
            <a:ahLst/>
            <a:cxnLst/>
            <a:rect l="l" t="t" r="r" b="b"/>
            <a:pathLst>
              <a:path w="3027531" h="1219601">
                <a:moveTo>
                  <a:pt x="0" y="0"/>
                </a:moveTo>
                <a:lnTo>
                  <a:pt x="3027530" y="0"/>
                </a:lnTo>
                <a:lnTo>
                  <a:pt x="3027530" y="1219601"/>
                </a:lnTo>
                <a:lnTo>
                  <a:pt x="0" y="1219601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/>
            </a:stretch>
          </a:blipFill>
        </p:spPr>
      </p:sp>
      <p:sp>
        <p:nvSpPr>
          <p:cNvPr id="31" name="Freeform 31"/>
          <p:cNvSpPr/>
          <p:nvPr/>
        </p:nvSpPr>
        <p:spPr>
          <a:xfrm>
            <a:off x="13337243" y="233941"/>
            <a:ext cx="3027531" cy="1219601"/>
          </a:xfrm>
          <a:custGeom>
            <a:avLst/>
            <a:gdLst/>
            <a:ahLst/>
            <a:cxnLst/>
            <a:rect l="l" t="t" r="r" b="b"/>
            <a:pathLst>
              <a:path w="3027531" h="1219601">
                <a:moveTo>
                  <a:pt x="0" y="0"/>
                </a:moveTo>
                <a:lnTo>
                  <a:pt x="3027530" y="0"/>
                </a:lnTo>
                <a:lnTo>
                  <a:pt x="3027530" y="1219601"/>
                </a:lnTo>
                <a:lnTo>
                  <a:pt x="0" y="1219601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/>
            </a:stretch>
          </a:blipFill>
        </p:spPr>
      </p:sp>
      <p:sp>
        <p:nvSpPr>
          <p:cNvPr id="32" name="Freeform 32"/>
          <p:cNvSpPr/>
          <p:nvPr/>
        </p:nvSpPr>
        <p:spPr>
          <a:xfrm>
            <a:off x="1686604" y="233941"/>
            <a:ext cx="3027531" cy="1219601"/>
          </a:xfrm>
          <a:custGeom>
            <a:avLst/>
            <a:gdLst/>
            <a:ahLst/>
            <a:cxnLst/>
            <a:rect l="l" t="t" r="r" b="b"/>
            <a:pathLst>
              <a:path w="3027531" h="1219601">
                <a:moveTo>
                  <a:pt x="0" y="0"/>
                </a:moveTo>
                <a:lnTo>
                  <a:pt x="3027531" y="0"/>
                </a:lnTo>
                <a:lnTo>
                  <a:pt x="3027531" y="1219601"/>
                </a:lnTo>
                <a:lnTo>
                  <a:pt x="0" y="1219601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/>
            </a:stretch>
          </a:blipFill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2F5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632230" y="191405"/>
            <a:ext cx="8929065" cy="10525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660"/>
              </a:lnSpc>
            </a:pPr>
            <a:r>
              <a:rPr lang="en-US" sz="6185" b="1">
                <a:solidFill>
                  <a:srgbClr val="FFFFFF"/>
                </a:solidFill>
                <a:latin typeface="Loubag Bold" panose="02020A03060303060403"/>
                <a:ea typeface="Loubag Bold" panose="02020A03060303060403"/>
                <a:cs typeface="Loubag Bold" panose="02020A03060303060403"/>
                <a:sym typeface="Loubag Bold" panose="02020A03060303060403"/>
              </a:rPr>
              <a:t>Key Features</a:t>
            </a:r>
            <a:endParaRPr lang="en-US" sz="6185" b="1">
              <a:solidFill>
                <a:srgbClr val="FFFFFF"/>
              </a:solidFill>
              <a:latin typeface="Loubag Bold" panose="02020A03060303060403"/>
              <a:ea typeface="Loubag Bold" panose="02020A03060303060403"/>
              <a:cs typeface="Loubag Bold" panose="02020A03060303060403"/>
              <a:sym typeface="Loubag Bold" panose="02020A03060303060403"/>
            </a:endParaRPr>
          </a:p>
        </p:txBody>
      </p:sp>
      <p:sp>
        <p:nvSpPr>
          <p:cNvPr id="3" name="Freeform 3"/>
          <p:cNvSpPr/>
          <p:nvPr/>
        </p:nvSpPr>
        <p:spPr>
          <a:xfrm>
            <a:off x="12146563" y="340360"/>
            <a:ext cx="3027531" cy="1219601"/>
          </a:xfrm>
          <a:custGeom>
            <a:avLst/>
            <a:gdLst/>
            <a:ahLst/>
            <a:cxnLst/>
            <a:rect l="l" t="t" r="r" b="b"/>
            <a:pathLst>
              <a:path w="3027531" h="1219601">
                <a:moveTo>
                  <a:pt x="0" y="0"/>
                </a:moveTo>
                <a:lnTo>
                  <a:pt x="3027531" y="0"/>
                </a:lnTo>
                <a:lnTo>
                  <a:pt x="3027531" y="1219601"/>
                </a:lnTo>
                <a:lnTo>
                  <a:pt x="0" y="1219601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3010702" y="305705"/>
            <a:ext cx="3027531" cy="1219601"/>
          </a:xfrm>
          <a:custGeom>
            <a:avLst/>
            <a:gdLst/>
            <a:ahLst/>
            <a:cxnLst/>
            <a:rect l="l" t="t" r="r" b="b"/>
            <a:pathLst>
              <a:path w="3027531" h="1219601">
                <a:moveTo>
                  <a:pt x="0" y="0"/>
                </a:moveTo>
                <a:lnTo>
                  <a:pt x="3027531" y="0"/>
                </a:lnTo>
                <a:lnTo>
                  <a:pt x="3027531" y="1219601"/>
                </a:lnTo>
                <a:lnTo>
                  <a:pt x="0" y="1219601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/>
            </a:stretch>
          </a:blipFill>
        </p:spPr>
      </p:sp>
      <p:grpSp>
        <p:nvGrpSpPr>
          <p:cNvPr id="5" name="Group 5"/>
          <p:cNvGrpSpPr/>
          <p:nvPr/>
        </p:nvGrpSpPr>
        <p:grpSpPr>
          <a:xfrm rot="5400000">
            <a:off x="3508261" y="-919769"/>
            <a:ext cx="2380971" cy="8140530"/>
            <a:chOff x="0" y="0"/>
            <a:chExt cx="1308197" cy="447272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308197" cy="4472720"/>
            </a:xfrm>
            <a:custGeom>
              <a:avLst/>
              <a:gdLst/>
              <a:ahLst/>
              <a:cxnLst/>
              <a:rect l="l" t="t" r="r" b="b"/>
              <a:pathLst>
                <a:path w="1308197" h="4472720">
                  <a:moveTo>
                    <a:pt x="165831" y="0"/>
                  </a:moveTo>
                  <a:lnTo>
                    <a:pt x="1142366" y="0"/>
                  </a:lnTo>
                  <a:cubicBezTo>
                    <a:pt x="1233952" y="0"/>
                    <a:pt x="1308197" y="74245"/>
                    <a:pt x="1308197" y="165831"/>
                  </a:cubicBezTo>
                  <a:lnTo>
                    <a:pt x="1308197" y="4306890"/>
                  </a:lnTo>
                  <a:cubicBezTo>
                    <a:pt x="1308197" y="4350871"/>
                    <a:pt x="1290726" y="4393050"/>
                    <a:pt x="1259626" y="4424150"/>
                  </a:cubicBezTo>
                  <a:cubicBezTo>
                    <a:pt x="1228527" y="4455249"/>
                    <a:pt x="1186347" y="4472720"/>
                    <a:pt x="1142366" y="4472720"/>
                  </a:cubicBezTo>
                  <a:lnTo>
                    <a:pt x="165831" y="4472720"/>
                  </a:lnTo>
                  <a:cubicBezTo>
                    <a:pt x="121850" y="4472720"/>
                    <a:pt x="79670" y="4455249"/>
                    <a:pt x="48571" y="4424150"/>
                  </a:cubicBezTo>
                  <a:cubicBezTo>
                    <a:pt x="17471" y="4393050"/>
                    <a:pt x="0" y="4350871"/>
                    <a:pt x="0" y="4306890"/>
                  </a:cubicBezTo>
                  <a:lnTo>
                    <a:pt x="0" y="165831"/>
                  </a:lnTo>
                  <a:cubicBezTo>
                    <a:pt x="0" y="121850"/>
                    <a:pt x="17471" y="79670"/>
                    <a:pt x="48571" y="48571"/>
                  </a:cubicBezTo>
                  <a:cubicBezTo>
                    <a:pt x="79670" y="17471"/>
                    <a:pt x="121850" y="0"/>
                    <a:pt x="165831" y="0"/>
                  </a:cubicBezTo>
                  <a:close/>
                </a:path>
              </a:pathLst>
            </a:custGeom>
            <a:solidFill>
              <a:srgbClr val="BDDEE8">
                <a:alpha val="29804"/>
              </a:srgbClr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1308197" cy="451082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1389668" y="2094127"/>
            <a:ext cx="6269599" cy="5445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575"/>
              </a:lnSpc>
              <a:spcBef>
                <a:spcPct val="0"/>
              </a:spcBef>
            </a:pPr>
            <a:r>
              <a:rPr lang="en-US" sz="3270" b="1">
                <a:solidFill>
                  <a:srgbClr val="FFFFFF"/>
                </a:solidFill>
                <a:latin typeface="Merriweather Bold" panose="00000800000000000000"/>
                <a:ea typeface="Merriweather Bold" panose="00000800000000000000"/>
                <a:cs typeface="Merriweather Bold" panose="00000800000000000000"/>
                <a:sym typeface="Merriweather Bold" panose="00000800000000000000"/>
              </a:rPr>
              <a:t>Smart Runway Slot Allocation</a:t>
            </a:r>
            <a:endParaRPr lang="en-US" sz="3270" b="1">
              <a:solidFill>
                <a:srgbClr val="FFFFFF"/>
              </a:solidFill>
              <a:latin typeface="Merriweather Bold" panose="00000800000000000000"/>
              <a:ea typeface="Merriweather Bold" panose="00000800000000000000"/>
              <a:cs typeface="Merriweather Bold" panose="00000800000000000000"/>
              <a:sym typeface="Merriweather Bold" panose="00000800000000000000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920300" y="2687073"/>
            <a:ext cx="7423861" cy="10205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50"/>
              </a:lnSpc>
            </a:pPr>
            <a:r>
              <a:rPr lang="en-US" sz="3570">
                <a:solidFill>
                  <a:srgbClr val="EEDBE9"/>
                </a:solidFill>
                <a:latin typeface="Kabel" panose="020D0402020204020903"/>
                <a:ea typeface="Kabel" panose="020D0402020204020903"/>
                <a:cs typeface="Kabel" panose="020D0402020204020903"/>
                <a:sym typeface="Kabel" panose="020D0402020204020903"/>
              </a:rPr>
              <a:t>Selects least-loaded runways, assigns optimal slot times, and ensures separation-safe schedules.</a:t>
            </a:r>
            <a:endParaRPr lang="en-US" sz="3570">
              <a:solidFill>
                <a:srgbClr val="EEDBE9"/>
              </a:solidFill>
              <a:latin typeface="Kabel" panose="020D0402020204020903"/>
              <a:ea typeface="Kabel" panose="020D0402020204020903"/>
              <a:cs typeface="Kabel" panose="020D0402020204020903"/>
              <a:sym typeface="Kabel" panose="020D0402020204020903"/>
            </a:endParaRPr>
          </a:p>
        </p:txBody>
      </p:sp>
      <p:grpSp>
        <p:nvGrpSpPr>
          <p:cNvPr id="11" name="Group 11"/>
          <p:cNvGrpSpPr/>
          <p:nvPr/>
        </p:nvGrpSpPr>
        <p:grpSpPr>
          <a:xfrm rot="5400000">
            <a:off x="12469843" y="-1242854"/>
            <a:ext cx="2380971" cy="8786702"/>
            <a:chOff x="0" y="0"/>
            <a:chExt cx="1308197" cy="4827752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308197" cy="4827752"/>
            </a:xfrm>
            <a:custGeom>
              <a:avLst/>
              <a:gdLst/>
              <a:ahLst/>
              <a:cxnLst/>
              <a:rect l="l" t="t" r="r" b="b"/>
              <a:pathLst>
                <a:path w="1308197" h="4827752">
                  <a:moveTo>
                    <a:pt x="165831" y="0"/>
                  </a:moveTo>
                  <a:lnTo>
                    <a:pt x="1142366" y="0"/>
                  </a:lnTo>
                  <a:cubicBezTo>
                    <a:pt x="1233952" y="0"/>
                    <a:pt x="1308197" y="74245"/>
                    <a:pt x="1308197" y="165831"/>
                  </a:cubicBezTo>
                  <a:lnTo>
                    <a:pt x="1308197" y="4661921"/>
                  </a:lnTo>
                  <a:cubicBezTo>
                    <a:pt x="1308197" y="4705902"/>
                    <a:pt x="1290726" y="4748082"/>
                    <a:pt x="1259626" y="4779181"/>
                  </a:cubicBezTo>
                  <a:cubicBezTo>
                    <a:pt x="1228527" y="4810280"/>
                    <a:pt x="1186347" y="4827752"/>
                    <a:pt x="1142366" y="4827752"/>
                  </a:cubicBezTo>
                  <a:lnTo>
                    <a:pt x="165831" y="4827752"/>
                  </a:lnTo>
                  <a:cubicBezTo>
                    <a:pt x="121850" y="4827752"/>
                    <a:pt x="79670" y="4810280"/>
                    <a:pt x="48571" y="4779181"/>
                  </a:cubicBezTo>
                  <a:cubicBezTo>
                    <a:pt x="17471" y="4748082"/>
                    <a:pt x="0" y="4705902"/>
                    <a:pt x="0" y="4661921"/>
                  </a:cubicBezTo>
                  <a:lnTo>
                    <a:pt x="0" y="165831"/>
                  </a:lnTo>
                  <a:cubicBezTo>
                    <a:pt x="0" y="121850"/>
                    <a:pt x="17471" y="79670"/>
                    <a:pt x="48571" y="48571"/>
                  </a:cubicBezTo>
                  <a:cubicBezTo>
                    <a:pt x="79670" y="17471"/>
                    <a:pt x="121850" y="0"/>
                    <a:pt x="165831" y="0"/>
                  </a:cubicBezTo>
                  <a:close/>
                </a:path>
              </a:pathLst>
            </a:custGeom>
            <a:solidFill>
              <a:srgbClr val="BDDEE8">
                <a:alpha val="29804"/>
              </a:srgbClr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0" y="-38100"/>
              <a:ext cx="1308197" cy="486585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11265850" y="2094127"/>
            <a:ext cx="5165855" cy="5445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575"/>
              </a:lnSpc>
              <a:spcBef>
                <a:spcPct val="0"/>
              </a:spcBef>
            </a:pPr>
            <a:r>
              <a:rPr lang="en-US" sz="3270" b="1">
                <a:solidFill>
                  <a:srgbClr val="FFFFFF"/>
                </a:solidFill>
                <a:latin typeface="Merriweather Bold" panose="00000800000000000000"/>
                <a:ea typeface="Merriweather Bold" panose="00000800000000000000"/>
                <a:cs typeface="Merriweather Bold" panose="00000800000000000000"/>
                <a:sym typeface="Merriweather Bold" panose="00000800000000000000"/>
              </a:rPr>
              <a:t>AI Delay Prediction</a:t>
            </a:r>
            <a:endParaRPr lang="en-US" sz="3270" b="1">
              <a:solidFill>
                <a:srgbClr val="FFFFFF"/>
              </a:solidFill>
              <a:latin typeface="Merriweather Bold" panose="00000800000000000000"/>
              <a:ea typeface="Merriweather Bold" panose="00000800000000000000"/>
              <a:cs typeface="Merriweather Bold" panose="00000800000000000000"/>
              <a:sym typeface="Merriweather Bold" panose="00000800000000000000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9668147" y="2720503"/>
            <a:ext cx="8217845" cy="5538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50"/>
              </a:lnSpc>
            </a:pPr>
            <a:r>
              <a:rPr lang="en-US" sz="3570">
                <a:solidFill>
                  <a:srgbClr val="EEDBE9"/>
                </a:solidFill>
                <a:latin typeface="Kabel" panose="020D0402020204020903"/>
                <a:ea typeface="Kabel" panose="020D0402020204020903"/>
                <a:cs typeface="Kabel" panose="020D0402020204020903"/>
                <a:sym typeface="Kabel" panose="020D0402020204020903"/>
              </a:rPr>
              <a:t>Pr</a:t>
            </a:r>
            <a:r>
              <a:rPr lang="en-US" sz="3570">
                <a:solidFill>
                  <a:srgbClr val="EEDBE9"/>
                </a:solidFill>
                <a:latin typeface="Kabel" panose="020D0402020204020903"/>
                <a:ea typeface="Kabel" panose="020D0402020204020903"/>
                <a:cs typeface="Kabel" panose="020D0402020204020903"/>
                <a:sym typeface="Kabel" panose="020D0402020204020903"/>
              </a:rPr>
              <a:t>edicts possible delays before they happen.</a:t>
            </a:r>
            <a:endParaRPr lang="en-US" sz="3570">
              <a:solidFill>
                <a:srgbClr val="EEDBE9"/>
              </a:solidFill>
              <a:latin typeface="Kabel" panose="020D0402020204020903"/>
              <a:ea typeface="Kabel" panose="020D0402020204020903"/>
              <a:cs typeface="Kabel" panose="020D0402020204020903"/>
              <a:sym typeface="Kabel" panose="020D0402020204020903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9667308" y="3255272"/>
            <a:ext cx="8218684" cy="4806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50"/>
              </a:lnSpc>
            </a:pPr>
            <a:endParaRPr lang="en-US" sz="3570" b="1">
              <a:solidFill>
                <a:srgbClr val="EEDBE9"/>
              </a:solidFill>
              <a:latin typeface="Kabel Ultra-Bold" panose="020D0602020203020903"/>
              <a:ea typeface="Kabel Ultra-Bold" panose="020D0602020203020903"/>
              <a:cs typeface="Kabel Ultra-Bold" panose="020D0602020203020903"/>
              <a:sym typeface="Kabel Ultra-Bold" panose="020D0602020203020903"/>
            </a:endParaRPr>
          </a:p>
        </p:txBody>
      </p:sp>
      <p:grpSp>
        <p:nvGrpSpPr>
          <p:cNvPr id="17" name="Group 17"/>
          <p:cNvGrpSpPr/>
          <p:nvPr/>
        </p:nvGrpSpPr>
        <p:grpSpPr>
          <a:xfrm rot="5400000">
            <a:off x="3366550" y="1936288"/>
            <a:ext cx="2664393" cy="8140530"/>
            <a:chOff x="0" y="0"/>
            <a:chExt cx="1463920" cy="447272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1463920" cy="4472720"/>
            </a:xfrm>
            <a:custGeom>
              <a:avLst/>
              <a:gdLst/>
              <a:ahLst/>
              <a:cxnLst/>
              <a:rect l="l" t="t" r="r" b="b"/>
              <a:pathLst>
                <a:path w="1463920" h="4472720">
                  <a:moveTo>
                    <a:pt x="148191" y="0"/>
                  </a:moveTo>
                  <a:lnTo>
                    <a:pt x="1315729" y="0"/>
                  </a:lnTo>
                  <a:cubicBezTo>
                    <a:pt x="1397573" y="0"/>
                    <a:pt x="1463920" y="66347"/>
                    <a:pt x="1463920" y="148191"/>
                  </a:cubicBezTo>
                  <a:lnTo>
                    <a:pt x="1463920" y="4324530"/>
                  </a:lnTo>
                  <a:cubicBezTo>
                    <a:pt x="1463920" y="4406373"/>
                    <a:pt x="1397573" y="4472720"/>
                    <a:pt x="1315729" y="4472720"/>
                  </a:cubicBezTo>
                  <a:lnTo>
                    <a:pt x="148191" y="4472720"/>
                  </a:lnTo>
                  <a:cubicBezTo>
                    <a:pt x="66347" y="4472720"/>
                    <a:pt x="0" y="4406373"/>
                    <a:pt x="0" y="4324530"/>
                  </a:cubicBezTo>
                  <a:lnTo>
                    <a:pt x="0" y="148191"/>
                  </a:lnTo>
                  <a:cubicBezTo>
                    <a:pt x="0" y="66347"/>
                    <a:pt x="66347" y="0"/>
                    <a:pt x="148191" y="0"/>
                  </a:cubicBezTo>
                  <a:close/>
                </a:path>
              </a:pathLst>
            </a:custGeom>
            <a:solidFill>
              <a:srgbClr val="BDDEE8">
                <a:alpha val="29804"/>
              </a:srgbClr>
            </a:solidFill>
          </p:spPr>
        </p:sp>
        <p:sp>
          <p:nvSpPr>
            <p:cNvPr id="19" name="TextBox 19"/>
            <p:cNvSpPr txBox="1"/>
            <p:nvPr/>
          </p:nvSpPr>
          <p:spPr>
            <a:xfrm>
              <a:off x="0" y="-38100"/>
              <a:ext cx="1463920" cy="451082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sp>
        <p:nvSpPr>
          <p:cNvPr id="20" name="TextBox 20"/>
          <p:cNvSpPr txBox="1"/>
          <p:nvPr/>
        </p:nvSpPr>
        <p:spPr>
          <a:xfrm>
            <a:off x="1086499" y="4820023"/>
            <a:ext cx="7224496" cy="5445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575"/>
              </a:lnSpc>
              <a:spcBef>
                <a:spcPct val="0"/>
              </a:spcBef>
            </a:pPr>
            <a:r>
              <a:rPr lang="en-US" sz="3270" b="1">
                <a:solidFill>
                  <a:srgbClr val="FFFFFF"/>
                </a:solidFill>
                <a:latin typeface="Merriweather Bold" panose="00000800000000000000"/>
                <a:ea typeface="Merriweather Bold" panose="00000800000000000000"/>
                <a:cs typeface="Merriweather Bold" panose="00000800000000000000"/>
                <a:sym typeface="Merriweather Bold" panose="00000800000000000000"/>
              </a:rPr>
              <a:t>Dynamic Priority Scheduling</a:t>
            </a:r>
            <a:endParaRPr lang="en-US" sz="3270" b="1">
              <a:solidFill>
                <a:srgbClr val="FFFFFF"/>
              </a:solidFill>
              <a:latin typeface="Merriweather Bold" panose="00000800000000000000"/>
              <a:ea typeface="Merriweather Bold" panose="00000800000000000000"/>
              <a:cs typeface="Merriweather Bold" panose="00000800000000000000"/>
              <a:sym typeface="Merriweather Bold" panose="00000800000000000000"/>
            </a:endParaRPr>
          </a:p>
        </p:txBody>
      </p:sp>
      <p:sp>
        <p:nvSpPr>
          <p:cNvPr id="21" name="TextBox 21"/>
          <p:cNvSpPr txBox="1"/>
          <p:nvPr/>
        </p:nvSpPr>
        <p:spPr>
          <a:xfrm>
            <a:off x="1091871" y="5478878"/>
            <a:ext cx="7415747" cy="5538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50"/>
              </a:lnSpc>
            </a:pPr>
            <a:r>
              <a:rPr lang="en-US" sz="3570">
                <a:solidFill>
                  <a:srgbClr val="EEDBE9"/>
                </a:solidFill>
                <a:latin typeface="Kabel" panose="020D0402020204020903"/>
                <a:ea typeface="Kabel" panose="020D0402020204020903"/>
                <a:cs typeface="Kabel" panose="020D0402020204020903"/>
                <a:sym typeface="Kabel" panose="020D0402020204020903"/>
              </a:rPr>
              <a:t>Ranks a</a:t>
            </a:r>
            <a:r>
              <a:rPr lang="en-US" sz="3570">
                <a:solidFill>
                  <a:srgbClr val="EEDBE9"/>
                </a:solidFill>
                <a:latin typeface="Kabel" panose="020D0402020204020903"/>
                <a:ea typeface="Kabel" panose="020D0402020204020903"/>
                <a:cs typeface="Kabel" panose="020D0402020204020903"/>
                <a:sym typeface="Kabel" panose="020D0402020204020903"/>
              </a:rPr>
              <a:t>ircraft intelligently:</a:t>
            </a:r>
            <a:endParaRPr lang="en-US" sz="3570">
              <a:solidFill>
                <a:srgbClr val="EEDBE9"/>
              </a:solidFill>
              <a:latin typeface="Kabel" panose="020D0402020204020903"/>
              <a:ea typeface="Kabel" panose="020D0402020204020903"/>
              <a:cs typeface="Kabel" panose="020D0402020204020903"/>
              <a:sym typeface="Kabel" panose="020D0402020204020903"/>
            </a:endParaRPr>
          </a:p>
        </p:txBody>
      </p:sp>
      <p:sp>
        <p:nvSpPr>
          <p:cNvPr id="22" name="TextBox 22"/>
          <p:cNvSpPr txBox="1"/>
          <p:nvPr/>
        </p:nvSpPr>
        <p:spPr>
          <a:xfrm>
            <a:off x="1086499" y="6108897"/>
            <a:ext cx="7416504" cy="4806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50"/>
              </a:lnSpc>
            </a:pPr>
            <a:endParaRPr lang="en-US" sz="3570" b="1">
              <a:solidFill>
                <a:srgbClr val="EEDBE9"/>
              </a:solidFill>
              <a:latin typeface="Kabel Ultra-Bold" panose="020D0602020203020903"/>
              <a:ea typeface="Kabel Ultra-Bold" panose="020D0602020203020903"/>
              <a:cs typeface="Kabel Ultra-Bold" panose="020D0602020203020903"/>
              <a:sym typeface="Kabel Ultra-Bold" panose="020D0602020203020903"/>
            </a:endParaRPr>
          </a:p>
        </p:txBody>
      </p:sp>
      <p:grpSp>
        <p:nvGrpSpPr>
          <p:cNvPr id="23" name="Group 23"/>
          <p:cNvGrpSpPr/>
          <p:nvPr/>
        </p:nvGrpSpPr>
        <p:grpSpPr>
          <a:xfrm rot="5400000">
            <a:off x="12316935" y="1580428"/>
            <a:ext cx="2623766" cy="8811623"/>
            <a:chOff x="0" y="0"/>
            <a:chExt cx="1441598" cy="4841445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1441598" cy="4841445"/>
            </a:xfrm>
            <a:custGeom>
              <a:avLst/>
              <a:gdLst/>
              <a:ahLst/>
              <a:cxnLst/>
              <a:rect l="l" t="t" r="r" b="b"/>
              <a:pathLst>
                <a:path w="1441598" h="4841445">
                  <a:moveTo>
                    <a:pt x="150485" y="0"/>
                  </a:moveTo>
                  <a:lnTo>
                    <a:pt x="1291113" y="0"/>
                  </a:lnTo>
                  <a:cubicBezTo>
                    <a:pt x="1374223" y="0"/>
                    <a:pt x="1441598" y="67375"/>
                    <a:pt x="1441598" y="150485"/>
                  </a:cubicBezTo>
                  <a:lnTo>
                    <a:pt x="1441598" y="4690960"/>
                  </a:lnTo>
                  <a:cubicBezTo>
                    <a:pt x="1441598" y="4774070"/>
                    <a:pt x="1374223" y="4841445"/>
                    <a:pt x="1291113" y="4841445"/>
                  </a:cubicBezTo>
                  <a:lnTo>
                    <a:pt x="150485" y="4841445"/>
                  </a:lnTo>
                  <a:cubicBezTo>
                    <a:pt x="67375" y="4841445"/>
                    <a:pt x="0" y="4774070"/>
                    <a:pt x="0" y="4690960"/>
                  </a:cubicBezTo>
                  <a:lnTo>
                    <a:pt x="0" y="150485"/>
                  </a:lnTo>
                  <a:cubicBezTo>
                    <a:pt x="0" y="67375"/>
                    <a:pt x="67375" y="0"/>
                    <a:pt x="150485" y="0"/>
                  </a:cubicBezTo>
                  <a:close/>
                </a:path>
              </a:pathLst>
            </a:custGeom>
            <a:solidFill>
              <a:srgbClr val="BDDEE8">
                <a:alpha val="29804"/>
              </a:srgbClr>
            </a:solidFill>
          </p:spPr>
        </p:sp>
        <p:sp>
          <p:nvSpPr>
            <p:cNvPr id="25" name="TextBox 25"/>
            <p:cNvSpPr txBox="1"/>
            <p:nvPr/>
          </p:nvSpPr>
          <p:spPr>
            <a:xfrm>
              <a:off x="0" y="-38100"/>
              <a:ext cx="1441598" cy="487954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sp>
        <p:nvSpPr>
          <p:cNvPr id="26" name="TextBox 26"/>
          <p:cNvSpPr txBox="1"/>
          <p:nvPr/>
        </p:nvSpPr>
        <p:spPr>
          <a:xfrm>
            <a:off x="9597414" y="4902957"/>
            <a:ext cx="8278218" cy="5445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575"/>
              </a:lnSpc>
              <a:spcBef>
                <a:spcPct val="0"/>
              </a:spcBef>
            </a:pPr>
            <a:r>
              <a:rPr lang="en-US" sz="3270" b="1">
                <a:solidFill>
                  <a:srgbClr val="FFFFFF"/>
                </a:solidFill>
                <a:latin typeface="Merriweather Bold" panose="00000800000000000000"/>
                <a:ea typeface="Merriweather Bold" panose="00000800000000000000"/>
                <a:cs typeface="Merriweather Bold" panose="00000800000000000000"/>
                <a:sym typeface="Merriweather Bold" panose="00000800000000000000"/>
              </a:rPr>
              <a:t>Conflict Detection &amp; Safety Validation</a:t>
            </a:r>
            <a:endParaRPr lang="en-US" sz="3270" b="1">
              <a:solidFill>
                <a:srgbClr val="FFFFFF"/>
              </a:solidFill>
              <a:latin typeface="Merriweather Bold" panose="00000800000000000000"/>
              <a:ea typeface="Merriweather Bold" panose="00000800000000000000"/>
              <a:cs typeface="Merriweather Bold" panose="00000800000000000000"/>
              <a:sym typeface="Merriweather Bold" panose="00000800000000000000"/>
            </a:endParaRPr>
          </a:p>
        </p:txBody>
      </p:sp>
      <p:sp>
        <p:nvSpPr>
          <p:cNvPr id="27" name="TextBox 27"/>
          <p:cNvSpPr txBox="1"/>
          <p:nvPr/>
        </p:nvSpPr>
        <p:spPr>
          <a:xfrm>
            <a:off x="9597414" y="5574128"/>
            <a:ext cx="6404807" cy="5538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50"/>
              </a:lnSpc>
            </a:pPr>
            <a:r>
              <a:rPr lang="en-US" sz="3570">
                <a:solidFill>
                  <a:srgbClr val="EEDBE9"/>
                </a:solidFill>
                <a:latin typeface="Kabel" panose="020D0402020204020903"/>
                <a:ea typeface="Kabel" panose="020D0402020204020903"/>
                <a:cs typeface="Kabel" panose="020D0402020204020903"/>
                <a:sym typeface="Kabel" panose="020D0402020204020903"/>
              </a:rPr>
              <a:t>Ranks a</a:t>
            </a:r>
            <a:r>
              <a:rPr lang="en-US" sz="3570">
                <a:solidFill>
                  <a:srgbClr val="EEDBE9"/>
                </a:solidFill>
                <a:latin typeface="Kabel" panose="020D0402020204020903"/>
                <a:ea typeface="Kabel" panose="020D0402020204020903"/>
                <a:cs typeface="Kabel" panose="020D0402020204020903"/>
                <a:sym typeface="Kabel" panose="020D0402020204020903"/>
              </a:rPr>
              <a:t>ircraft intelligently:</a:t>
            </a:r>
            <a:endParaRPr lang="en-US" sz="3570">
              <a:solidFill>
                <a:srgbClr val="EEDBE9"/>
              </a:solidFill>
              <a:latin typeface="Kabel" panose="020D0402020204020903"/>
              <a:ea typeface="Kabel" panose="020D0402020204020903"/>
              <a:cs typeface="Kabel" panose="020D0402020204020903"/>
              <a:sym typeface="Kabel" panose="020D0402020204020903"/>
            </a:endParaRPr>
          </a:p>
        </p:txBody>
      </p:sp>
      <p:sp>
        <p:nvSpPr>
          <p:cNvPr id="28" name="TextBox 28"/>
          <p:cNvSpPr txBox="1"/>
          <p:nvPr/>
        </p:nvSpPr>
        <p:spPr>
          <a:xfrm>
            <a:off x="9597414" y="6187529"/>
            <a:ext cx="8339964" cy="4806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50"/>
              </a:lnSpc>
            </a:pPr>
            <a:endParaRPr lang="en-US" sz="3570" b="1">
              <a:solidFill>
                <a:srgbClr val="EEDBE9"/>
              </a:solidFill>
              <a:latin typeface="Kabel Ultra-Bold" panose="020D0602020203020903"/>
              <a:ea typeface="Kabel Ultra-Bold" panose="020D0602020203020903"/>
              <a:cs typeface="Kabel Ultra-Bold" panose="020D0602020203020903"/>
              <a:sym typeface="Kabel Ultra-Bold" panose="020D0602020203020903"/>
            </a:endParaRPr>
          </a:p>
        </p:txBody>
      </p:sp>
      <p:grpSp>
        <p:nvGrpSpPr>
          <p:cNvPr id="29" name="Group 29"/>
          <p:cNvGrpSpPr/>
          <p:nvPr/>
        </p:nvGrpSpPr>
        <p:grpSpPr>
          <a:xfrm rot="5400000">
            <a:off x="3624303" y="4714404"/>
            <a:ext cx="2148887" cy="8140530"/>
            <a:chOff x="0" y="0"/>
            <a:chExt cx="1180681" cy="4472720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1180681" cy="4472720"/>
            </a:xfrm>
            <a:custGeom>
              <a:avLst/>
              <a:gdLst/>
              <a:ahLst/>
              <a:cxnLst/>
              <a:rect l="l" t="t" r="r" b="b"/>
              <a:pathLst>
                <a:path w="1180681" h="4472720">
                  <a:moveTo>
                    <a:pt x="183741" y="0"/>
                  </a:moveTo>
                  <a:lnTo>
                    <a:pt x="996941" y="0"/>
                  </a:lnTo>
                  <a:cubicBezTo>
                    <a:pt x="1045672" y="0"/>
                    <a:pt x="1092407" y="19358"/>
                    <a:pt x="1126865" y="53816"/>
                  </a:cubicBezTo>
                  <a:cubicBezTo>
                    <a:pt x="1161323" y="88274"/>
                    <a:pt x="1180681" y="135010"/>
                    <a:pt x="1180681" y="183741"/>
                  </a:cubicBezTo>
                  <a:lnTo>
                    <a:pt x="1180681" y="4288980"/>
                  </a:lnTo>
                  <a:cubicBezTo>
                    <a:pt x="1180681" y="4390457"/>
                    <a:pt x="1098418" y="4472720"/>
                    <a:pt x="996941" y="4472720"/>
                  </a:cubicBezTo>
                  <a:lnTo>
                    <a:pt x="183741" y="4472720"/>
                  </a:lnTo>
                  <a:cubicBezTo>
                    <a:pt x="82263" y="4472720"/>
                    <a:pt x="0" y="4390457"/>
                    <a:pt x="0" y="4288980"/>
                  </a:cubicBezTo>
                  <a:lnTo>
                    <a:pt x="0" y="183741"/>
                  </a:lnTo>
                  <a:cubicBezTo>
                    <a:pt x="0" y="82263"/>
                    <a:pt x="82263" y="0"/>
                    <a:pt x="183741" y="0"/>
                  </a:cubicBezTo>
                  <a:close/>
                </a:path>
              </a:pathLst>
            </a:custGeom>
            <a:solidFill>
              <a:srgbClr val="BDDEE8">
                <a:alpha val="29804"/>
              </a:srgbClr>
            </a:solidFill>
          </p:spPr>
        </p:sp>
        <p:sp>
          <p:nvSpPr>
            <p:cNvPr id="31" name="TextBox 31"/>
            <p:cNvSpPr txBox="1"/>
            <p:nvPr/>
          </p:nvSpPr>
          <p:spPr>
            <a:xfrm>
              <a:off x="0" y="-38100"/>
              <a:ext cx="1180681" cy="451082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sp>
        <p:nvSpPr>
          <p:cNvPr id="32" name="TextBox 32"/>
          <p:cNvSpPr txBox="1"/>
          <p:nvPr/>
        </p:nvSpPr>
        <p:spPr>
          <a:xfrm>
            <a:off x="1086499" y="7887631"/>
            <a:ext cx="7224496" cy="5551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575"/>
              </a:lnSpc>
              <a:spcBef>
                <a:spcPct val="0"/>
              </a:spcBef>
            </a:pPr>
            <a:r>
              <a:rPr lang="en-US" sz="3270" b="1">
                <a:solidFill>
                  <a:srgbClr val="FFFFFF"/>
                </a:solidFill>
                <a:latin typeface="Merriweather Bold" panose="00000800000000000000"/>
                <a:ea typeface="Merriweather Bold" panose="00000800000000000000"/>
                <a:cs typeface="Merriweather Bold" panose="00000800000000000000"/>
                <a:sym typeface="Merriweather Bold" panose="00000800000000000000"/>
              </a:rPr>
              <a:t>Emergency Premptive Scheduling</a:t>
            </a:r>
            <a:endParaRPr lang="en-US" sz="3270" b="1">
              <a:solidFill>
                <a:srgbClr val="FFFFFF"/>
              </a:solidFill>
              <a:latin typeface="Merriweather Bold" panose="00000800000000000000"/>
              <a:ea typeface="Merriweather Bold" panose="00000800000000000000"/>
              <a:cs typeface="Merriweather Bold" panose="00000800000000000000"/>
              <a:sym typeface="Merriweather Bold" panose="00000800000000000000"/>
            </a:endParaRPr>
          </a:p>
        </p:txBody>
      </p:sp>
      <p:sp>
        <p:nvSpPr>
          <p:cNvPr id="33" name="TextBox 33"/>
          <p:cNvSpPr txBox="1"/>
          <p:nvPr/>
        </p:nvSpPr>
        <p:spPr>
          <a:xfrm>
            <a:off x="1091871" y="8704481"/>
            <a:ext cx="6956119" cy="5538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50"/>
              </a:lnSpc>
            </a:pPr>
            <a:r>
              <a:rPr lang="en-US" sz="3570">
                <a:solidFill>
                  <a:srgbClr val="EEDBE9"/>
                </a:solidFill>
                <a:latin typeface="Kabel" panose="020D0402020204020903"/>
                <a:ea typeface="Kabel" panose="020D0402020204020903"/>
                <a:cs typeface="Kabel" panose="020D0402020204020903"/>
                <a:sym typeface="Kabel" panose="020D0402020204020903"/>
              </a:rPr>
              <a:t>Critical flights can ove</a:t>
            </a:r>
            <a:r>
              <a:rPr lang="en-US" sz="3570">
                <a:solidFill>
                  <a:srgbClr val="EEDBE9"/>
                </a:solidFill>
                <a:latin typeface="Kabel" panose="020D0402020204020903"/>
                <a:ea typeface="Kabel" panose="020D0402020204020903"/>
                <a:cs typeface="Kabel" panose="020D0402020204020903"/>
                <a:sym typeface="Kabel" panose="020D0402020204020903"/>
              </a:rPr>
              <a:t>rride queue instantly.</a:t>
            </a:r>
            <a:endParaRPr lang="en-US" sz="3570">
              <a:solidFill>
                <a:srgbClr val="EEDBE9"/>
              </a:solidFill>
              <a:latin typeface="Kabel" panose="020D0402020204020903"/>
              <a:ea typeface="Kabel" panose="020D0402020204020903"/>
              <a:cs typeface="Kabel" panose="020D0402020204020903"/>
              <a:sym typeface="Kabel" panose="020D0402020204020903"/>
            </a:endParaRPr>
          </a:p>
        </p:txBody>
      </p:sp>
      <p:grpSp>
        <p:nvGrpSpPr>
          <p:cNvPr id="34" name="Group 34"/>
          <p:cNvGrpSpPr/>
          <p:nvPr/>
        </p:nvGrpSpPr>
        <p:grpSpPr>
          <a:xfrm rot="5400000">
            <a:off x="12563899" y="4369332"/>
            <a:ext cx="2148887" cy="8830673"/>
            <a:chOff x="0" y="0"/>
            <a:chExt cx="1180681" cy="4851911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1180681" cy="4851912"/>
            </a:xfrm>
            <a:custGeom>
              <a:avLst/>
              <a:gdLst/>
              <a:ahLst/>
              <a:cxnLst/>
              <a:rect l="l" t="t" r="r" b="b"/>
              <a:pathLst>
                <a:path w="1180681" h="4851912">
                  <a:moveTo>
                    <a:pt x="183741" y="0"/>
                  </a:moveTo>
                  <a:lnTo>
                    <a:pt x="996941" y="0"/>
                  </a:lnTo>
                  <a:cubicBezTo>
                    <a:pt x="1045672" y="0"/>
                    <a:pt x="1092407" y="19358"/>
                    <a:pt x="1126865" y="53816"/>
                  </a:cubicBezTo>
                  <a:cubicBezTo>
                    <a:pt x="1161323" y="88274"/>
                    <a:pt x="1180681" y="135010"/>
                    <a:pt x="1180681" y="183741"/>
                  </a:cubicBezTo>
                  <a:lnTo>
                    <a:pt x="1180681" y="4668171"/>
                  </a:lnTo>
                  <a:cubicBezTo>
                    <a:pt x="1180681" y="4769648"/>
                    <a:pt x="1098418" y="4851912"/>
                    <a:pt x="996941" y="4851912"/>
                  </a:cubicBezTo>
                  <a:lnTo>
                    <a:pt x="183741" y="4851912"/>
                  </a:lnTo>
                  <a:cubicBezTo>
                    <a:pt x="135010" y="4851912"/>
                    <a:pt x="88274" y="4832553"/>
                    <a:pt x="53816" y="4798095"/>
                  </a:cubicBezTo>
                  <a:cubicBezTo>
                    <a:pt x="19358" y="4763637"/>
                    <a:pt x="0" y="4716902"/>
                    <a:pt x="0" y="4668171"/>
                  </a:cubicBezTo>
                  <a:lnTo>
                    <a:pt x="0" y="183741"/>
                  </a:lnTo>
                  <a:cubicBezTo>
                    <a:pt x="0" y="82263"/>
                    <a:pt x="82263" y="0"/>
                    <a:pt x="183741" y="0"/>
                  </a:cubicBezTo>
                  <a:close/>
                </a:path>
              </a:pathLst>
            </a:custGeom>
            <a:solidFill>
              <a:srgbClr val="BDDEE8">
                <a:alpha val="29804"/>
              </a:srgbClr>
            </a:solidFill>
          </p:spPr>
        </p:sp>
        <p:sp>
          <p:nvSpPr>
            <p:cNvPr id="36" name="TextBox 36"/>
            <p:cNvSpPr txBox="1"/>
            <p:nvPr/>
          </p:nvSpPr>
          <p:spPr>
            <a:xfrm>
              <a:off x="0" y="-38100"/>
              <a:ext cx="1180681" cy="489001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sp>
        <p:nvSpPr>
          <p:cNvPr id="37" name="TextBox 37"/>
          <p:cNvSpPr txBox="1"/>
          <p:nvPr/>
        </p:nvSpPr>
        <p:spPr>
          <a:xfrm>
            <a:off x="9598223" y="7898198"/>
            <a:ext cx="8296115" cy="5445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575"/>
              </a:lnSpc>
              <a:spcBef>
                <a:spcPct val="0"/>
              </a:spcBef>
            </a:pPr>
            <a:r>
              <a:rPr lang="en-US" sz="3270" b="1">
                <a:solidFill>
                  <a:srgbClr val="FFFFFF"/>
                </a:solidFill>
                <a:latin typeface="Merriweather Bold" panose="00000800000000000000"/>
                <a:ea typeface="Merriweather Bold" panose="00000800000000000000"/>
                <a:cs typeface="Merriweather Bold" panose="00000800000000000000"/>
                <a:sym typeface="Merriweather Bold" panose="00000800000000000000"/>
              </a:rPr>
              <a:t>Automatic Algorithm Switching</a:t>
            </a:r>
            <a:endParaRPr lang="en-US" sz="3270" b="1">
              <a:solidFill>
                <a:srgbClr val="FFFFFF"/>
              </a:solidFill>
              <a:latin typeface="Merriweather Bold" panose="00000800000000000000"/>
              <a:ea typeface="Merriweather Bold" panose="00000800000000000000"/>
              <a:cs typeface="Merriweather Bold" panose="00000800000000000000"/>
              <a:sym typeface="Merriweather Bold" panose="00000800000000000000"/>
            </a:endParaRPr>
          </a:p>
        </p:txBody>
      </p:sp>
      <p:sp>
        <p:nvSpPr>
          <p:cNvPr id="38" name="TextBox 38"/>
          <p:cNvSpPr txBox="1"/>
          <p:nvPr/>
        </p:nvSpPr>
        <p:spPr>
          <a:xfrm>
            <a:off x="9598223" y="8528478"/>
            <a:ext cx="8455456" cy="10205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50"/>
              </a:lnSpc>
            </a:pPr>
            <a:r>
              <a:rPr lang="en-US" sz="3570">
                <a:solidFill>
                  <a:srgbClr val="EEDBE9"/>
                </a:solidFill>
                <a:latin typeface="Kabel" panose="020D0402020204020903"/>
                <a:ea typeface="Kabel" panose="020D0402020204020903"/>
                <a:cs typeface="Kabel" panose="020D0402020204020903"/>
                <a:sym typeface="Kabel" panose="020D0402020204020903"/>
              </a:rPr>
              <a:t>System sw</a:t>
            </a:r>
            <a:r>
              <a:rPr lang="en-US" sz="3570">
                <a:solidFill>
                  <a:srgbClr val="EEDBE9"/>
                </a:solidFill>
                <a:latin typeface="Kabel" panose="020D0402020204020903"/>
                <a:ea typeface="Kabel" panose="020D0402020204020903"/>
                <a:cs typeface="Kabel" panose="020D0402020204020903"/>
                <a:sym typeface="Kabel" panose="020D0402020204020903"/>
              </a:rPr>
              <a:t>itches algorithm based on:</a:t>
            </a:r>
            <a:endParaRPr lang="en-US" sz="3570">
              <a:solidFill>
                <a:srgbClr val="EEDBE9"/>
              </a:solidFill>
              <a:latin typeface="Kabel" panose="020D0402020204020903"/>
              <a:ea typeface="Kabel" panose="020D0402020204020903"/>
              <a:cs typeface="Kabel" panose="020D0402020204020903"/>
              <a:sym typeface="Kabel" panose="020D0402020204020903"/>
            </a:endParaRPr>
          </a:p>
          <a:p>
            <a:pPr algn="l">
              <a:lnSpc>
                <a:spcPts val="3750"/>
              </a:lnSpc>
            </a:pPr>
            <a:r>
              <a:rPr lang="en-US" sz="3570">
                <a:solidFill>
                  <a:srgbClr val="EEDBE9"/>
                </a:solidFill>
                <a:latin typeface="Kabel" panose="020D0402020204020903"/>
                <a:ea typeface="Kabel" panose="020D0402020204020903"/>
                <a:cs typeface="Kabel" panose="020D0402020204020903"/>
                <a:sym typeface="Kabel" panose="020D0402020204020903"/>
              </a:rPr>
              <a:t>congestion ,emergencies, storm risk, conflict probability</a:t>
            </a:r>
            <a:endParaRPr lang="en-US" sz="3570">
              <a:solidFill>
                <a:srgbClr val="EEDBE9"/>
              </a:solidFill>
              <a:latin typeface="Kabel" panose="020D0402020204020903"/>
              <a:ea typeface="Kabel" panose="020D0402020204020903"/>
              <a:cs typeface="Kabel" panose="020D0402020204020903"/>
              <a:sym typeface="Kabel" panose="020D0402020204020903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2F5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7871865" y="0"/>
            <a:ext cx="6827904" cy="10287000"/>
          </a:xfrm>
          <a:custGeom>
            <a:avLst/>
            <a:gdLst/>
            <a:ahLst/>
            <a:cxnLst/>
            <a:rect l="l" t="t" r="r" b="b"/>
            <a:pathLst>
              <a:path w="6827904" h="10287000">
                <a:moveTo>
                  <a:pt x="0" y="0"/>
                </a:moveTo>
                <a:lnTo>
                  <a:pt x="6827904" y="0"/>
                </a:lnTo>
                <a:lnTo>
                  <a:pt x="6827904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 r="-377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227001" y="167973"/>
            <a:ext cx="6187513" cy="21479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660"/>
              </a:lnSpc>
            </a:pPr>
            <a:r>
              <a:rPr lang="en-US" sz="6185" b="1">
                <a:solidFill>
                  <a:srgbClr val="FFFFFF"/>
                </a:solidFill>
                <a:latin typeface="Loubag Bold" panose="02020A03060303060403"/>
                <a:ea typeface="Loubag Bold" panose="02020A03060303060403"/>
                <a:cs typeface="Loubag Bold" panose="02020A03060303060403"/>
                <a:sym typeface="Loubag Bold" panose="02020A03060303060403"/>
              </a:rPr>
              <a:t>System Architecture</a:t>
            </a:r>
            <a:endParaRPr lang="en-US" sz="6185" b="1">
              <a:solidFill>
                <a:srgbClr val="FFFFFF"/>
              </a:solidFill>
              <a:latin typeface="Loubag Bold" panose="02020A03060303060403"/>
              <a:ea typeface="Loubag Bold" panose="02020A03060303060403"/>
              <a:cs typeface="Loubag Bold" panose="02020A03060303060403"/>
              <a:sym typeface="Loubag Bold" panose="02020A03060303060403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2F5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632230" y="191405"/>
            <a:ext cx="8929065" cy="10525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660"/>
              </a:lnSpc>
            </a:pPr>
            <a:r>
              <a:rPr lang="en-US" sz="6185" b="1">
                <a:solidFill>
                  <a:srgbClr val="FFFFFF"/>
                </a:solidFill>
                <a:latin typeface="Loubag Bold" panose="02020A03060303060403"/>
                <a:ea typeface="Loubag Bold" panose="02020A03060303060403"/>
                <a:cs typeface="Loubag Bold" panose="02020A03060303060403"/>
                <a:sym typeface="Loubag Bold" panose="02020A03060303060403"/>
              </a:rPr>
              <a:t>Technology Stack</a:t>
            </a:r>
            <a:endParaRPr lang="en-US" sz="6185" b="1">
              <a:solidFill>
                <a:srgbClr val="FFFFFF"/>
              </a:solidFill>
              <a:latin typeface="Loubag Bold" panose="02020A03060303060403"/>
              <a:ea typeface="Loubag Bold" panose="02020A03060303060403"/>
              <a:cs typeface="Loubag Bold" panose="02020A03060303060403"/>
              <a:sym typeface="Loubag Bold" panose="02020A03060303060403"/>
            </a:endParaRPr>
          </a:p>
        </p:txBody>
      </p:sp>
      <p:sp>
        <p:nvSpPr>
          <p:cNvPr id="3" name="Freeform 3"/>
          <p:cNvSpPr/>
          <p:nvPr/>
        </p:nvSpPr>
        <p:spPr>
          <a:xfrm>
            <a:off x="13561296" y="235585"/>
            <a:ext cx="3027531" cy="1219601"/>
          </a:xfrm>
          <a:custGeom>
            <a:avLst/>
            <a:gdLst/>
            <a:ahLst/>
            <a:cxnLst/>
            <a:rect l="l" t="t" r="r" b="b"/>
            <a:pathLst>
              <a:path w="3027531" h="1219601">
                <a:moveTo>
                  <a:pt x="0" y="0"/>
                </a:moveTo>
                <a:lnTo>
                  <a:pt x="3027530" y="0"/>
                </a:lnTo>
                <a:lnTo>
                  <a:pt x="3027530" y="1219601"/>
                </a:lnTo>
                <a:lnTo>
                  <a:pt x="0" y="1219601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772213" y="305705"/>
            <a:ext cx="3027531" cy="1219601"/>
          </a:xfrm>
          <a:custGeom>
            <a:avLst/>
            <a:gdLst/>
            <a:ahLst/>
            <a:cxnLst/>
            <a:rect l="l" t="t" r="r" b="b"/>
            <a:pathLst>
              <a:path w="3027531" h="1219601">
                <a:moveTo>
                  <a:pt x="0" y="0"/>
                </a:moveTo>
                <a:lnTo>
                  <a:pt x="3027531" y="0"/>
                </a:lnTo>
                <a:lnTo>
                  <a:pt x="3027531" y="1219601"/>
                </a:lnTo>
                <a:lnTo>
                  <a:pt x="0" y="1219601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/>
            </a:stretch>
          </a:blipFill>
        </p:spPr>
      </p:sp>
      <p:grpSp>
        <p:nvGrpSpPr>
          <p:cNvPr id="5" name="Group 5"/>
          <p:cNvGrpSpPr/>
          <p:nvPr/>
        </p:nvGrpSpPr>
        <p:grpSpPr>
          <a:xfrm rot="5400000">
            <a:off x="581051" y="2007442"/>
            <a:ext cx="7965942" cy="7871080"/>
            <a:chOff x="0" y="0"/>
            <a:chExt cx="4376795" cy="4324674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4376794" cy="4324674"/>
            </a:xfrm>
            <a:custGeom>
              <a:avLst/>
              <a:gdLst/>
              <a:ahLst/>
              <a:cxnLst/>
              <a:rect l="l" t="t" r="r" b="b"/>
              <a:pathLst>
                <a:path w="4376794" h="4324674">
                  <a:moveTo>
                    <a:pt x="49566" y="0"/>
                  </a:moveTo>
                  <a:lnTo>
                    <a:pt x="4327229" y="0"/>
                  </a:lnTo>
                  <a:cubicBezTo>
                    <a:pt x="4340374" y="0"/>
                    <a:pt x="4352982" y="5222"/>
                    <a:pt x="4362277" y="14517"/>
                  </a:cubicBezTo>
                  <a:cubicBezTo>
                    <a:pt x="4371572" y="23813"/>
                    <a:pt x="4376794" y="36420"/>
                    <a:pt x="4376794" y="49566"/>
                  </a:cubicBezTo>
                  <a:lnTo>
                    <a:pt x="4376794" y="4275108"/>
                  </a:lnTo>
                  <a:cubicBezTo>
                    <a:pt x="4376794" y="4288254"/>
                    <a:pt x="4371572" y="4300861"/>
                    <a:pt x="4362277" y="4310157"/>
                  </a:cubicBezTo>
                  <a:cubicBezTo>
                    <a:pt x="4352982" y="4319452"/>
                    <a:pt x="4340374" y="4324674"/>
                    <a:pt x="4327229" y="4324674"/>
                  </a:cubicBezTo>
                  <a:lnTo>
                    <a:pt x="49566" y="4324674"/>
                  </a:lnTo>
                  <a:cubicBezTo>
                    <a:pt x="36420" y="4324674"/>
                    <a:pt x="23813" y="4319452"/>
                    <a:pt x="14517" y="4310157"/>
                  </a:cubicBezTo>
                  <a:cubicBezTo>
                    <a:pt x="5222" y="4300861"/>
                    <a:pt x="0" y="4288254"/>
                    <a:pt x="0" y="4275108"/>
                  </a:cubicBezTo>
                  <a:lnTo>
                    <a:pt x="0" y="49566"/>
                  </a:lnTo>
                  <a:cubicBezTo>
                    <a:pt x="0" y="36420"/>
                    <a:pt x="5222" y="23813"/>
                    <a:pt x="14517" y="14517"/>
                  </a:cubicBezTo>
                  <a:cubicBezTo>
                    <a:pt x="23813" y="5222"/>
                    <a:pt x="36420" y="0"/>
                    <a:pt x="49566" y="0"/>
                  </a:cubicBezTo>
                  <a:close/>
                </a:path>
              </a:pathLst>
            </a:custGeom>
            <a:solidFill>
              <a:srgbClr val="BDDEE8">
                <a:alpha val="29804"/>
              </a:srgbClr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4376795" cy="436277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id="8" name="Group 8"/>
          <p:cNvGrpSpPr/>
          <p:nvPr/>
        </p:nvGrpSpPr>
        <p:grpSpPr>
          <a:xfrm rot="5400000">
            <a:off x="9865807" y="2007442"/>
            <a:ext cx="7965942" cy="7871080"/>
            <a:chOff x="0" y="0"/>
            <a:chExt cx="4376795" cy="4324674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4376794" cy="4324674"/>
            </a:xfrm>
            <a:custGeom>
              <a:avLst/>
              <a:gdLst/>
              <a:ahLst/>
              <a:cxnLst/>
              <a:rect l="l" t="t" r="r" b="b"/>
              <a:pathLst>
                <a:path w="4376794" h="4324674">
                  <a:moveTo>
                    <a:pt x="49566" y="0"/>
                  </a:moveTo>
                  <a:lnTo>
                    <a:pt x="4327229" y="0"/>
                  </a:lnTo>
                  <a:cubicBezTo>
                    <a:pt x="4340374" y="0"/>
                    <a:pt x="4352982" y="5222"/>
                    <a:pt x="4362277" y="14517"/>
                  </a:cubicBezTo>
                  <a:cubicBezTo>
                    <a:pt x="4371572" y="23813"/>
                    <a:pt x="4376794" y="36420"/>
                    <a:pt x="4376794" y="49566"/>
                  </a:cubicBezTo>
                  <a:lnTo>
                    <a:pt x="4376794" y="4275108"/>
                  </a:lnTo>
                  <a:cubicBezTo>
                    <a:pt x="4376794" y="4288254"/>
                    <a:pt x="4371572" y="4300861"/>
                    <a:pt x="4362277" y="4310157"/>
                  </a:cubicBezTo>
                  <a:cubicBezTo>
                    <a:pt x="4352982" y="4319452"/>
                    <a:pt x="4340374" y="4324674"/>
                    <a:pt x="4327229" y="4324674"/>
                  </a:cubicBezTo>
                  <a:lnTo>
                    <a:pt x="49566" y="4324674"/>
                  </a:lnTo>
                  <a:cubicBezTo>
                    <a:pt x="36420" y="4324674"/>
                    <a:pt x="23813" y="4319452"/>
                    <a:pt x="14517" y="4310157"/>
                  </a:cubicBezTo>
                  <a:cubicBezTo>
                    <a:pt x="5222" y="4300861"/>
                    <a:pt x="0" y="4288254"/>
                    <a:pt x="0" y="4275108"/>
                  </a:cubicBezTo>
                  <a:lnTo>
                    <a:pt x="0" y="49566"/>
                  </a:lnTo>
                  <a:cubicBezTo>
                    <a:pt x="0" y="36420"/>
                    <a:pt x="5222" y="23813"/>
                    <a:pt x="14517" y="14517"/>
                  </a:cubicBezTo>
                  <a:cubicBezTo>
                    <a:pt x="23813" y="5222"/>
                    <a:pt x="36420" y="0"/>
                    <a:pt x="49566" y="0"/>
                  </a:cubicBezTo>
                  <a:close/>
                </a:path>
              </a:pathLst>
            </a:custGeom>
            <a:solidFill>
              <a:srgbClr val="BDDEE8">
                <a:alpha val="29804"/>
              </a:srgbClr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4376795" cy="436277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sp>
        <p:nvSpPr>
          <p:cNvPr id="11" name="Freeform 11"/>
          <p:cNvSpPr/>
          <p:nvPr/>
        </p:nvSpPr>
        <p:spPr>
          <a:xfrm>
            <a:off x="899044" y="3113840"/>
            <a:ext cx="1675143" cy="1238309"/>
          </a:xfrm>
          <a:custGeom>
            <a:avLst/>
            <a:gdLst/>
            <a:ahLst/>
            <a:cxnLst/>
            <a:rect l="l" t="t" r="r" b="b"/>
            <a:pathLst>
              <a:path w="1675143" h="1238309">
                <a:moveTo>
                  <a:pt x="0" y="0"/>
                </a:moveTo>
                <a:lnTo>
                  <a:pt x="1675143" y="0"/>
                </a:lnTo>
                <a:lnTo>
                  <a:pt x="1675143" y="1238309"/>
                </a:lnTo>
                <a:lnTo>
                  <a:pt x="0" y="123830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5939" r="-5939" b="-39996"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2804652" y="3113840"/>
            <a:ext cx="1759370" cy="1075415"/>
          </a:xfrm>
          <a:custGeom>
            <a:avLst/>
            <a:gdLst/>
            <a:ahLst/>
            <a:cxnLst/>
            <a:rect l="l" t="t" r="r" b="b"/>
            <a:pathLst>
              <a:path w="1759370" h="1075415">
                <a:moveTo>
                  <a:pt x="0" y="0"/>
                </a:moveTo>
                <a:lnTo>
                  <a:pt x="1759369" y="0"/>
                </a:lnTo>
                <a:lnTo>
                  <a:pt x="1759369" y="1075414"/>
                </a:lnTo>
                <a:lnTo>
                  <a:pt x="0" y="107541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16" name="Freeform 16"/>
          <p:cNvSpPr/>
          <p:nvPr/>
        </p:nvSpPr>
        <p:spPr>
          <a:xfrm>
            <a:off x="2055997" y="7529490"/>
            <a:ext cx="1413555" cy="1887169"/>
          </a:xfrm>
          <a:custGeom>
            <a:avLst/>
            <a:gdLst/>
            <a:ahLst/>
            <a:cxnLst/>
            <a:rect l="l" t="t" r="r" b="b"/>
            <a:pathLst>
              <a:path w="1413555" h="1887169">
                <a:moveTo>
                  <a:pt x="0" y="0"/>
                </a:moveTo>
                <a:lnTo>
                  <a:pt x="1413555" y="0"/>
                </a:lnTo>
                <a:lnTo>
                  <a:pt x="1413555" y="1887169"/>
                </a:lnTo>
                <a:lnTo>
                  <a:pt x="0" y="188716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17" name="Freeform 17"/>
          <p:cNvSpPr/>
          <p:nvPr/>
        </p:nvSpPr>
        <p:spPr>
          <a:xfrm>
            <a:off x="4042205" y="7529490"/>
            <a:ext cx="1780546" cy="1780546"/>
          </a:xfrm>
          <a:custGeom>
            <a:avLst/>
            <a:gdLst/>
            <a:ahLst/>
            <a:cxnLst/>
            <a:rect l="l" t="t" r="r" b="b"/>
            <a:pathLst>
              <a:path w="1780546" h="1780546">
                <a:moveTo>
                  <a:pt x="0" y="0"/>
                </a:moveTo>
                <a:lnTo>
                  <a:pt x="1780546" y="0"/>
                </a:lnTo>
                <a:lnTo>
                  <a:pt x="1780546" y="1780546"/>
                </a:lnTo>
                <a:lnTo>
                  <a:pt x="0" y="178054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18" name="Freeform 18"/>
          <p:cNvSpPr/>
          <p:nvPr/>
        </p:nvSpPr>
        <p:spPr>
          <a:xfrm>
            <a:off x="10489385" y="3009734"/>
            <a:ext cx="2682638" cy="1446521"/>
          </a:xfrm>
          <a:custGeom>
            <a:avLst/>
            <a:gdLst/>
            <a:ahLst/>
            <a:cxnLst/>
            <a:rect l="l" t="t" r="r" b="b"/>
            <a:pathLst>
              <a:path w="2682638" h="1446521">
                <a:moveTo>
                  <a:pt x="0" y="0"/>
                </a:moveTo>
                <a:lnTo>
                  <a:pt x="2682638" y="0"/>
                </a:lnTo>
                <a:lnTo>
                  <a:pt x="2682638" y="1446521"/>
                </a:lnTo>
                <a:lnTo>
                  <a:pt x="0" y="144652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19" name="TextBox 19"/>
          <p:cNvSpPr txBox="1"/>
          <p:nvPr/>
        </p:nvSpPr>
        <p:spPr>
          <a:xfrm>
            <a:off x="10489385" y="2265595"/>
            <a:ext cx="4186036" cy="5445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575"/>
              </a:lnSpc>
              <a:spcBef>
                <a:spcPct val="0"/>
              </a:spcBef>
            </a:pPr>
            <a:r>
              <a:rPr lang="en-US" sz="3270" b="1">
                <a:solidFill>
                  <a:srgbClr val="FFFFFF"/>
                </a:solidFill>
                <a:latin typeface="Merriweather Bold" panose="00000800000000000000"/>
                <a:ea typeface="Merriweather Bold" panose="00000800000000000000"/>
                <a:cs typeface="Merriweather Bold" panose="00000800000000000000"/>
                <a:sym typeface="Merriweather Bold" panose="00000800000000000000"/>
              </a:rPr>
              <a:t>AI / ML</a:t>
            </a:r>
            <a:endParaRPr lang="en-US" sz="3270" b="1">
              <a:solidFill>
                <a:srgbClr val="FFFFFF"/>
              </a:solidFill>
              <a:latin typeface="Merriweather Bold" panose="00000800000000000000"/>
              <a:ea typeface="Merriweather Bold" panose="00000800000000000000"/>
              <a:cs typeface="Merriweather Bold" panose="00000800000000000000"/>
              <a:sym typeface="Merriweather Bold" panose="00000800000000000000"/>
            </a:endParaRPr>
          </a:p>
        </p:txBody>
      </p:sp>
      <p:sp>
        <p:nvSpPr>
          <p:cNvPr id="20" name="Freeform 20"/>
          <p:cNvSpPr/>
          <p:nvPr/>
        </p:nvSpPr>
        <p:spPr>
          <a:xfrm>
            <a:off x="14180867" y="2566448"/>
            <a:ext cx="1788388" cy="1936004"/>
          </a:xfrm>
          <a:custGeom>
            <a:avLst/>
            <a:gdLst/>
            <a:ahLst/>
            <a:cxnLst/>
            <a:rect l="l" t="t" r="r" b="b"/>
            <a:pathLst>
              <a:path w="1788388" h="1936004">
                <a:moveTo>
                  <a:pt x="0" y="0"/>
                </a:moveTo>
                <a:lnTo>
                  <a:pt x="1788388" y="0"/>
                </a:lnTo>
                <a:lnTo>
                  <a:pt x="1788388" y="1936003"/>
                </a:lnTo>
                <a:lnTo>
                  <a:pt x="0" y="1936003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r="-136200" b="-19298"/>
            </a:stretch>
          </a:blipFill>
        </p:spPr>
      </p:sp>
      <p:sp>
        <p:nvSpPr>
          <p:cNvPr id="21" name="Freeform 21"/>
          <p:cNvSpPr/>
          <p:nvPr/>
        </p:nvSpPr>
        <p:spPr>
          <a:xfrm>
            <a:off x="11676202" y="7828642"/>
            <a:ext cx="2504665" cy="1666741"/>
          </a:xfrm>
          <a:custGeom>
            <a:avLst/>
            <a:gdLst/>
            <a:ahLst/>
            <a:cxnLst/>
            <a:rect l="l" t="t" r="r" b="b"/>
            <a:pathLst>
              <a:path w="2504665" h="1666741">
                <a:moveTo>
                  <a:pt x="0" y="0"/>
                </a:moveTo>
                <a:lnTo>
                  <a:pt x="2504665" y="0"/>
                </a:lnTo>
                <a:lnTo>
                  <a:pt x="2504665" y="1666741"/>
                </a:lnTo>
                <a:lnTo>
                  <a:pt x="0" y="1666741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sp>
        <p:nvSpPr>
          <p:cNvPr id="22" name="TextBox 22"/>
          <p:cNvSpPr txBox="1"/>
          <p:nvPr/>
        </p:nvSpPr>
        <p:spPr>
          <a:xfrm>
            <a:off x="1028700" y="2265595"/>
            <a:ext cx="4186036" cy="5445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575"/>
              </a:lnSpc>
              <a:spcBef>
                <a:spcPct val="0"/>
              </a:spcBef>
            </a:pPr>
            <a:r>
              <a:rPr lang="en-US" sz="3270" b="1">
                <a:solidFill>
                  <a:srgbClr val="FFFFFF"/>
                </a:solidFill>
                <a:latin typeface="Merriweather Bold" panose="00000800000000000000"/>
                <a:ea typeface="Merriweather Bold" panose="00000800000000000000"/>
                <a:cs typeface="Merriweather Bold" panose="00000800000000000000"/>
                <a:sym typeface="Merriweather Bold" panose="00000800000000000000"/>
              </a:rPr>
              <a:t>Frontend</a:t>
            </a:r>
            <a:endParaRPr lang="en-US" sz="3270" b="1">
              <a:solidFill>
                <a:srgbClr val="FFFFFF"/>
              </a:solidFill>
              <a:latin typeface="Merriweather Bold" panose="00000800000000000000"/>
              <a:ea typeface="Merriweather Bold" panose="00000800000000000000"/>
              <a:cs typeface="Merriweather Bold" panose="00000800000000000000"/>
              <a:sym typeface="Merriweather Bold" panose="00000800000000000000"/>
            </a:endParaRPr>
          </a:p>
        </p:txBody>
      </p:sp>
      <p:sp>
        <p:nvSpPr>
          <p:cNvPr id="23" name="TextBox 23"/>
          <p:cNvSpPr txBox="1"/>
          <p:nvPr/>
        </p:nvSpPr>
        <p:spPr>
          <a:xfrm>
            <a:off x="899044" y="6680134"/>
            <a:ext cx="4186036" cy="5445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575"/>
              </a:lnSpc>
              <a:spcBef>
                <a:spcPct val="0"/>
              </a:spcBef>
            </a:pPr>
            <a:r>
              <a:rPr lang="en-US" sz="3270" b="1">
                <a:solidFill>
                  <a:srgbClr val="FFFFFF"/>
                </a:solidFill>
                <a:latin typeface="Merriweather Bold" panose="00000800000000000000"/>
                <a:ea typeface="Merriweather Bold" panose="00000800000000000000"/>
                <a:cs typeface="Merriweather Bold" panose="00000800000000000000"/>
                <a:sym typeface="Merriweather Bold" panose="00000800000000000000"/>
              </a:rPr>
              <a:t>Backend</a:t>
            </a:r>
            <a:endParaRPr lang="en-US" sz="3270" b="1">
              <a:solidFill>
                <a:srgbClr val="FFFFFF"/>
              </a:solidFill>
              <a:latin typeface="Merriweather Bold" panose="00000800000000000000"/>
              <a:ea typeface="Merriweather Bold" panose="00000800000000000000"/>
              <a:cs typeface="Merriweather Bold" panose="00000800000000000000"/>
              <a:sym typeface="Merriweather Bold" panose="00000800000000000000"/>
            </a:endParaRPr>
          </a:p>
        </p:txBody>
      </p:sp>
      <p:sp>
        <p:nvSpPr>
          <p:cNvPr id="24" name="TextBox 24"/>
          <p:cNvSpPr txBox="1"/>
          <p:nvPr/>
        </p:nvSpPr>
        <p:spPr>
          <a:xfrm>
            <a:off x="10489385" y="5091529"/>
            <a:ext cx="4186036" cy="5445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575"/>
              </a:lnSpc>
              <a:spcBef>
                <a:spcPct val="0"/>
              </a:spcBef>
            </a:pPr>
            <a:r>
              <a:rPr lang="en-US" sz="3270" b="1">
                <a:solidFill>
                  <a:srgbClr val="FFFFFF"/>
                </a:solidFill>
                <a:latin typeface="Merriweather Bold" panose="00000800000000000000"/>
                <a:ea typeface="Merriweather Bold" panose="00000800000000000000"/>
                <a:cs typeface="Merriweather Bold" panose="00000800000000000000"/>
                <a:sym typeface="Merriweather Bold" panose="00000800000000000000"/>
              </a:rPr>
              <a:t>Models</a:t>
            </a:r>
            <a:endParaRPr lang="en-US" sz="3270" b="1">
              <a:solidFill>
                <a:srgbClr val="FFFFFF"/>
              </a:solidFill>
              <a:latin typeface="Merriweather Bold" panose="00000800000000000000"/>
              <a:ea typeface="Merriweather Bold" panose="00000800000000000000"/>
              <a:cs typeface="Merriweather Bold" panose="00000800000000000000"/>
              <a:sym typeface="Merriweather Bold" panose="00000800000000000000"/>
            </a:endParaRPr>
          </a:p>
        </p:txBody>
      </p:sp>
      <p:sp>
        <p:nvSpPr>
          <p:cNvPr id="25" name="TextBox 25"/>
          <p:cNvSpPr txBox="1"/>
          <p:nvPr/>
        </p:nvSpPr>
        <p:spPr>
          <a:xfrm>
            <a:off x="10489385" y="7084061"/>
            <a:ext cx="4186036" cy="5445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575"/>
              </a:lnSpc>
              <a:spcBef>
                <a:spcPct val="0"/>
              </a:spcBef>
            </a:pPr>
            <a:r>
              <a:rPr lang="en-US" sz="3270" b="1">
                <a:solidFill>
                  <a:srgbClr val="FFFFFF"/>
                </a:solidFill>
                <a:latin typeface="Merriweather Bold" panose="00000800000000000000"/>
                <a:ea typeface="Merriweather Bold" panose="00000800000000000000"/>
                <a:cs typeface="Merriweather Bold" panose="00000800000000000000"/>
                <a:sym typeface="Merriweather Bold" panose="00000800000000000000"/>
              </a:rPr>
              <a:t>Database</a:t>
            </a:r>
            <a:endParaRPr lang="en-US" sz="3270" b="1">
              <a:solidFill>
                <a:srgbClr val="FFFFFF"/>
              </a:solidFill>
              <a:latin typeface="Merriweather Bold" panose="00000800000000000000"/>
              <a:ea typeface="Merriweather Bold" panose="00000800000000000000"/>
              <a:cs typeface="Merriweather Bold" panose="00000800000000000000"/>
              <a:sym typeface="Merriweather Bold" panose="00000800000000000000"/>
            </a:endParaRPr>
          </a:p>
        </p:txBody>
      </p:sp>
      <p:sp>
        <p:nvSpPr>
          <p:cNvPr id="26" name="TextBox 26"/>
          <p:cNvSpPr txBox="1"/>
          <p:nvPr/>
        </p:nvSpPr>
        <p:spPr>
          <a:xfrm>
            <a:off x="10660853" y="5788485"/>
            <a:ext cx="4186036" cy="9487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97535" lvl="1" indent="-299085" algn="l">
              <a:lnSpc>
                <a:spcPts val="3875"/>
              </a:lnSpc>
              <a:buFont typeface="Arial" panose="020B0604020202020204"/>
              <a:buChar char="•"/>
            </a:pPr>
            <a:r>
              <a:rPr lang="en-US" sz="2770">
                <a:solidFill>
                  <a:srgbClr val="FFFFFF"/>
                </a:solidFill>
                <a:latin typeface="Merriweather" panose="00000500000000000000"/>
                <a:ea typeface="Merriweather" panose="00000500000000000000"/>
                <a:cs typeface="Merriweather" panose="00000500000000000000"/>
                <a:sym typeface="Merriweather" panose="00000500000000000000"/>
              </a:rPr>
              <a:t>Random Forest</a:t>
            </a:r>
            <a:endParaRPr lang="en-US" sz="2770">
              <a:solidFill>
                <a:srgbClr val="FFFFFF"/>
              </a:solidFill>
              <a:latin typeface="Merriweather" panose="00000500000000000000"/>
              <a:ea typeface="Merriweather" panose="00000500000000000000"/>
              <a:cs typeface="Merriweather" panose="00000500000000000000"/>
              <a:sym typeface="Merriweather" panose="00000500000000000000"/>
            </a:endParaRPr>
          </a:p>
          <a:p>
            <a:pPr marL="597535" lvl="1" indent="-299085" algn="l">
              <a:lnSpc>
                <a:spcPts val="3875"/>
              </a:lnSpc>
              <a:buFont typeface="Arial" panose="020B0604020202020204"/>
              <a:buChar char="•"/>
            </a:pPr>
            <a:r>
              <a:rPr lang="en-US" sz="2770">
                <a:solidFill>
                  <a:srgbClr val="FFFFFF"/>
                </a:solidFill>
                <a:latin typeface="Merriweather" panose="00000500000000000000"/>
                <a:ea typeface="Merriweather" panose="00000500000000000000"/>
                <a:cs typeface="Merriweather" panose="00000500000000000000"/>
                <a:sym typeface="Merriweather" panose="00000500000000000000"/>
              </a:rPr>
              <a:t>XGBoost</a:t>
            </a:r>
            <a:endParaRPr lang="en-US" sz="2770">
              <a:solidFill>
                <a:srgbClr val="FFFFFF"/>
              </a:solidFill>
              <a:latin typeface="Merriweather" panose="00000500000000000000"/>
              <a:ea typeface="Merriweather" panose="00000500000000000000"/>
              <a:cs typeface="Merriweather" panose="00000500000000000000"/>
              <a:sym typeface="Merriweather" panose="0000050000000000000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2F5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20346" y="315369"/>
            <a:ext cx="6727603" cy="18018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60"/>
              </a:lnSpc>
            </a:pPr>
            <a:r>
              <a:rPr lang="en-US" sz="5185" b="1">
                <a:solidFill>
                  <a:srgbClr val="FFFFFF"/>
                </a:solidFill>
                <a:latin typeface="Loubag Bold" panose="02020A03060303060403"/>
                <a:ea typeface="Loubag Bold" panose="02020A03060303060403"/>
                <a:cs typeface="Loubag Bold" panose="02020A03060303060403"/>
                <a:sym typeface="Loubag Bold" panose="02020A03060303060403"/>
              </a:rPr>
              <a:t>Datasets and Data Fusion Pipeline</a:t>
            </a:r>
            <a:endParaRPr lang="en-US" sz="5185" b="1">
              <a:solidFill>
                <a:srgbClr val="FFFFFF"/>
              </a:solidFill>
              <a:latin typeface="Loubag Bold" panose="02020A03060303060403"/>
              <a:ea typeface="Loubag Bold" panose="02020A03060303060403"/>
              <a:cs typeface="Loubag Bold" panose="02020A03060303060403"/>
              <a:sym typeface="Loubag Bold" panose="02020A03060303060403"/>
            </a:endParaRPr>
          </a:p>
        </p:txBody>
      </p:sp>
      <p:grpSp>
        <p:nvGrpSpPr>
          <p:cNvPr id="3" name="Group 3"/>
          <p:cNvGrpSpPr/>
          <p:nvPr/>
        </p:nvGrpSpPr>
        <p:grpSpPr>
          <a:xfrm rot="-189864">
            <a:off x="9344734" y="2078891"/>
            <a:ext cx="2505432" cy="2542310"/>
            <a:chOff x="0" y="0"/>
            <a:chExt cx="1376581" cy="139684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376581" cy="1396843"/>
            </a:xfrm>
            <a:custGeom>
              <a:avLst/>
              <a:gdLst/>
              <a:ahLst/>
              <a:cxnLst/>
              <a:rect l="l" t="t" r="r" b="b"/>
              <a:pathLst>
                <a:path w="1376581" h="1396843">
                  <a:moveTo>
                    <a:pt x="157593" y="0"/>
                  </a:moveTo>
                  <a:lnTo>
                    <a:pt x="1218988" y="0"/>
                  </a:lnTo>
                  <a:cubicBezTo>
                    <a:pt x="1260784" y="0"/>
                    <a:pt x="1300869" y="16603"/>
                    <a:pt x="1330423" y="46158"/>
                  </a:cubicBezTo>
                  <a:cubicBezTo>
                    <a:pt x="1359977" y="75712"/>
                    <a:pt x="1376581" y="115797"/>
                    <a:pt x="1376581" y="157593"/>
                  </a:cubicBezTo>
                  <a:lnTo>
                    <a:pt x="1376581" y="1239250"/>
                  </a:lnTo>
                  <a:cubicBezTo>
                    <a:pt x="1376581" y="1281046"/>
                    <a:pt x="1359977" y="1321131"/>
                    <a:pt x="1330423" y="1350685"/>
                  </a:cubicBezTo>
                  <a:cubicBezTo>
                    <a:pt x="1300869" y="1380239"/>
                    <a:pt x="1260784" y="1396843"/>
                    <a:pt x="1218988" y="1396843"/>
                  </a:cubicBezTo>
                  <a:lnTo>
                    <a:pt x="157593" y="1396843"/>
                  </a:lnTo>
                  <a:cubicBezTo>
                    <a:pt x="115797" y="1396843"/>
                    <a:pt x="75712" y="1380239"/>
                    <a:pt x="46158" y="1350685"/>
                  </a:cubicBezTo>
                  <a:cubicBezTo>
                    <a:pt x="16603" y="1321131"/>
                    <a:pt x="0" y="1281046"/>
                    <a:pt x="0" y="1239250"/>
                  </a:cubicBezTo>
                  <a:lnTo>
                    <a:pt x="0" y="157593"/>
                  </a:lnTo>
                  <a:cubicBezTo>
                    <a:pt x="0" y="115797"/>
                    <a:pt x="16603" y="75712"/>
                    <a:pt x="46158" y="46158"/>
                  </a:cubicBezTo>
                  <a:cubicBezTo>
                    <a:pt x="75712" y="16603"/>
                    <a:pt x="115797" y="0"/>
                    <a:pt x="157593" y="0"/>
                  </a:cubicBezTo>
                  <a:close/>
                </a:path>
              </a:pathLst>
            </a:custGeom>
            <a:solidFill>
              <a:srgbClr val="BDDEE8">
                <a:alpha val="29804"/>
              </a:srgbClr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1376581" cy="143494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id="6" name="Group 6"/>
          <p:cNvGrpSpPr/>
          <p:nvPr/>
        </p:nvGrpSpPr>
        <p:grpSpPr>
          <a:xfrm rot="-8319463">
            <a:off x="8315044" y="879909"/>
            <a:ext cx="3000937" cy="3589557"/>
            <a:chOff x="0" y="0"/>
            <a:chExt cx="790370" cy="945398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790370" cy="945398"/>
            </a:xfrm>
            <a:custGeom>
              <a:avLst/>
              <a:gdLst/>
              <a:ahLst/>
              <a:cxnLst/>
              <a:rect l="l" t="t" r="r" b="b"/>
              <a:pathLst>
                <a:path w="790370" h="945398">
                  <a:moveTo>
                    <a:pt x="131572" y="0"/>
                  </a:moveTo>
                  <a:lnTo>
                    <a:pt x="658799" y="0"/>
                  </a:lnTo>
                  <a:cubicBezTo>
                    <a:pt x="731464" y="0"/>
                    <a:pt x="790370" y="58907"/>
                    <a:pt x="790370" y="131572"/>
                  </a:cubicBezTo>
                  <a:lnTo>
                    <a:pt x="790370" y="813826"/>
                  </a:lnTo>
                  <a:cubicBezTo>
                    <a:pt x="790370" y="848721"/>
                    <a:pt x="776508" y="882187"/>
                    <a:pt x="751834" y="906861"/>
                  </a:cubicBezTo>
                  <a:cubicBezTo>
                    <a:pt x="727159" y="931536"/>
                    <a:pt x="693694" y="945398"/>
                    <a:pt x="658799" y="945398"/>
                  </a:cubicBezTo>
                  <a:lnTo>
                    <a:pt x="131572" y="945398"/>
                  </a:lnTo>
                  <a:cubicBezTo>
                    <a:pt x="96677" y="945398"/>
                    <a:pt x="63211" y="931536"/>
                    <a:pt x="38536" y="906861"/>
                  </a:cubicBezTo>
                  <a:cubicBezTo>
                    <a:pt x="13862" y="882187"/>
                    <a:pt x="0" y="848721"/>
                    <a:pt x="0" y="813826"/>
                  </a:cubicBezTo>
                  <a:lnTo>
                    <a:pt x="0" y="131572"/>
                  </a:lnTo>
                  <a:cubicBezTo>
                    <a:pt x="0" y="96677"/>
                    <a:pt x="13862" y="63211"/>
                    <a:pt x="38536" y="38536"/>
                  </a:cubicBezTo>
                  <a:cubicBezTo>
                    <a:pt x="63211" y="13862"/>
                    <a:pt x="96677" y="0"/>
                    <a:pt x="131572" y="0"/>
                  </a:cubicBezTo>
                  <a:close/>
                </a:path>
              </a:pathLst>
            </a:custGeom>
            <a:solidFill>
              <a:srgbClr val="E8ECEC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-28575"/>
              <a:ext cx="790370" cy="97397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id="9" name="Group 9"/>
          <p:cNvGrpSpPr/>
          <p:nvPr/>
        </p:nvGrpSpPr>
        <p:grpSpPr>
          <a:xfrm rot="-2919463">
            <a:off x="8168237" y="1323027"/>
            <a:ext cx="3294552" cy="2703321"/>
            <a:chOff x="0" y="0"/>
            <a:chExt cx="1810153" cy="1485308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810153" cy="1485308"/>
            </a:xfrm>
            <a:custGeom>
              <a:avLst/>
              <a:gdLst/>
              <a:ahLst/>
              <a:cxnLst/>
              <a:rect l="l" t="t" r="r" b="b"/>
              <a:pathLst>
                <a:path w="1810153" h="1485308">
                  <a:moveTo>
                    <a:pt x="119846" y="0"/>
                  </a:moveTo>
                  <a:lnTo>
                    <a:pt x="1690308" y="0"/>
                  </a:lnTo>
                  <a:cubicBezTo>
                    <a:pt x="1722093" y="0"/>
                    <a:pt x="1752576" y="12627"/>
                    <a:pt x="1775052" y="35102"/>
                  </a:cubicBezTo>
                  <a:cubicBezTo>
                    <a:pt x="1797527" y="57577"/>
                    <a:pt x="1810153" y="88061"/>
                    <a:pt x="1810153" y="119846"/>
                  </a:cubicBezTo>
                  <a:lnTo>
                    <a:pt x="1810153" y="1365463"/>
                  </a:lnTo>
                  <a:cubicBezTo>
                    <a:pt x="1810153" y="1397248"/>
                    <a:pt x="1797527" y="1427731"/>
                    <a:pt x="1775052" y="1450206"/>
                  </a:cubicBezTo>
                  <a:cubicBezTo>
                    <a:pt x="1752576" y="1472682"/>
                    <a:pt x="1722093" y="1485308"/>
                    <a:pt x="1690308" y="1485308"/>
                  </a:cubicBezTo>
                  <a:lnTo>
                    <a:pt x="119846" y="1485308"/>
                  </a:lnTo>
                  <a:cubicBezTo>
                    <a:pt x="53657" y="1485308"/>
                    <a:pt x="0" y="1431652"/>
                    <a:pt x="0" y="1365463"/>
                  </a:cubicBezTo>
                  <a:lnTo>
                    <a:pt x="0" y="119846"/>
                  </a:lnTo>
                  <a:cubicBezTo>
                    <a:pt x="0" y="88061"/>
                    <a:pt x="12627" y="57577"/>
                    <a:pt x="35102" y="35102"/>
                  </a:cubicBezTo>
                  <a:cubicBezTo>
                    <a:pt x="57577" y="12627"/>
                    <a:pt x="88061" y="0"/>
                    <a:pt x="119846" y="0"/>
                  </a:cubicBezTo>
                  <a:close/>
                </a:path>
              </a:pathLst>
            </a:custGeom>
            <a:solidFill>
              <a:srgbClr val="0345E4">
                <a:alpha val="29804"/>
              </a:srgbClr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1810153" cy="152340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sp>
        <p:nvSpPr>
          <p:cNvPr id="12" name="TextBox 12"/>
          <p:cNvSpPr txBox="1"/>
          <p:nvPr/>
        </p:nvSpPr>
        <p:spPr>
          <a:xfrm rot="-2947314">
            <a:off x="8176045" y="1506922"/>
            <a:ext cx="3235723" cy="22981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575"/>
              </a:lnSpc>
            </a:pPr>
            <a:r>
              <a:rPr lang="en-US" sz="3270" b="1">
                <a:solidFill>
                  <a:srgbClr val="142F52"/>
                </a:solidFill>
                <a:latin typeface="Merriweather Bold" panose="00000800000000000000"/>
                <a:ea typeface="Merriweather Bold" panose="00000800000000000000"/>
                <a:cs typeface="Merriweather Bold" panose="00000800000000000000"/>
                <a:sym typeface="Merriweather Bold" panose="00000800000000000000"/>
              </a:rPr>
              <a:t>Historical Flight Delay 3 Dataset</a:t>
            </a:r>
            <a:endParaRPr lang="en-US" sz="3270" b="1">
              <a:solidFill>
                <a:srgbClr val="142F52"/>
              </a:solidFill>
              <a:latin typeface="Merriweather Bold" panose="00000800000000000000"/>
              <a:ea typeface="Merriweather Bold" panose="00000800000000000000"/>
              <a:cs typeface="Merriweather Bold" panose="00000800000000000000"/>
              <a:sym typeface="Merriweather Bold" panose="00000800000000000000"/>
            </a:endParaRPr>
          </a:p>
          <a:p>
            <a:pPr algn="ctr">
              <a:lnSpc>
                <a:spcPts val="4575"/>
              </a:lnSpc>
              <a:spcBef>
                <a:spcPct val="0"/>
              </a:spcBef>
            </a:pPr>
            <a:r>
              <a:rPr lang="en-US" sz="3270" b="1">
                <a:solidFill>
                  <a:srgbClr val="142F52"/>
                </a:solidFill>
                <a:latin typeface="Merriweather Bold" panose="00000800000000000000"/>
                <a:ea typeface="Merriweather Bold" panose="00000800000000000000"/>
                <a:cs typeface="Merriweather Bold" panose="00000800000000000000"/>
                <a:sym typeface="Merriweather Bold" panose="00000800000000000000"/>
              </a:rPr>
              <a:t>(kaggle)</a:t>
            </a:r>
            <a:endParaRPr lang="en-US" sz="3270" b="1">
              <a:solidFill>
                <a:srgbClr val="142F52"/>
              </a:solidFill>
              <a:latin typeface="Merriweather Bold" panose="00000800000000000000"/>
              <a:ea typeface="Merriweather Bold" panose="00000800000000000000"/>
              <a:cs typeface="Merriweather Bold" panose="00000800000000000000"/>
              <a:sym typeface="Merriweather Bold" panose="00000800000000000000"/>
            </a:endParaRPr>
          </a:p>
        </p:txBody>
      </p:sp>
      <p:grpSp>
        <p:nvGrpSpPr>
          <p:cNvPr id="13" name="Group 13"/>
          <p:cNvGrpSpPr/>
          <p:nvPr/>
        </p:nvGrpSpPr>
        <p:grpSpPr>
          <a:xfrm rot="-40875">
            <a:off x="13779674" y="2093018"/>
            <a:ext cx="2505432" cy="2542310"/>
            <a:chOff x="0" y="0"/>
            <a:chExt cx="1376581" cy="1396843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376581" cy="1396843"/>
            </a:xfrm>
            <a:custGeom>
              <a:avLst/>
              <a:gdLst/>
              <a:ahLst/>
              <a:cxnLst/>
              <a:rect l="l" t="t" r="r" b="b"/>
              <a:pathLst>
                <a:path w="1376581" h="1396843">
                  <a:moveTo>
                    <a:pt x="157593" y="0"/>
                  </a:moveTo>
                  <a:lnTo>
                    <a:pt x="1218988" y="0"/>
                  </a:lnTo>
                  <a:cubicBezTo>
                    <a:pt x="1260784" y="0"/>
                    <a:pt x="1300869" y="16603"/>
                    <a:pt x="1330423" y="46158"/>
                  </a:cubicBezTo>
                  <a:cubicBezTo>
                    <a:pt x="1359977" y="75712"/>
                    <a:pt x="1376581" y="115797"/>
                    <a:pt x="1376581" y="157593"/>
                  </a:cubicBezTo>
                  <a:lnTo>
                    <a:pt x="1376581" y="1239250"/>
                  </a:lnTo>
                  <a:cubicBezTo>
                    <a:pt x="1376581" y="1281046"/>
                    <a:pt x="1359977" y="1321131"/>
                    <a:pt x="1330423" y="1350685"/>
                  </a:cubicBezTo>
                  <a:cubicBezTo>
                    <a:pt x="1300869" y="1380239"/>
                    <a:pt x="1260784" y="1396843"/>
                    <a:pt x="1218988" y="1396843"/>
                  </a:cubicBezTo>
                  <a:lnTo>
                    <a:pt x="157593" y="1396843"/>
                  </a:lnTo>
                  <a:cubicBezTo>
                    <a:pt x="115797" y="1396843"/>
                    <a:pt x="75712" y="1380239"/>
                    <a:pt x="46158" y="1350685"/>
                  </a:cubicBezTo>
                  <a:cubicBezTo>
                    <a:pt x="16603" y="1321131"/>
                    <a:pt x="0" y="1281046"/>
                    <a:pt x="0" y="1239250"/>
                  </a:cubicBezTo>
                  <a:lnTo>
                    <a:pt x="0" y="157593"/>
                  </a:lnTo>
                  <a:cubicBezTo>
                    <a:pt x="0" y="115797"/>
                    <a:pt x="16603" y="75712"/>
                    <a:pt x="46158" y="46158"/>
                  </a:cubicBezTo>
                  <a:cubicBezTo>
                    <a:pt x="75712" y="16603"/>
                    <a:pt x="115797" y="0"/>
                    <a:pt x="157593" y="0"/>
                  </a:cubicBezTo>
                  <a:close/>
                </a:path>
              </a:pathLst>
            </a:custGeom>
            <a:solidFill>
              <a:srgbClr val="BDDEE8">
                <a:alpha val="29804"/>
              </a:srgbClr>
            </a:solidFill>
          </p:spPr>
        </p:sp>
        <p:sp>
          <p:nvSpPr>
            <p:cNvPr id="15" name="TextBox 15"/>
            <p:cNvSpPr txBox="1"/>
            <p:nvPr/>
          </p:nvSpPr>
          <p:spPr>
            <a:xfrm>
              <a:off x="0" y="-38100"/>
              <a:ext cx="1376581" cy="143494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id="16" name="Group 16"/>
          <p:cNvGrpSpPr/>
          <p:nvPr/>
        </p:nvGrpSpPr>
        <p:grpSpPr>
          <a:xfrm rot="-2592996">
            <a:off x="14265259" y="851334"/>
            <a:ext cx="3000937" cy="3589557"/>
            <a:chOff x="0" y="0"/>
            <a:chExt cx="790370" cy="945398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790370" cy="945398"/>
            </a:xfrm>
            <a:custGeom>
              <a:avLst/>
              <a:gdLst/>
              <a:ahLst/>
              <a:cxnLst/>
              <a:rect l="l" t="t" r="r" b="b"/>
              <a:pathLst>
                <a:path w="790370" h="945398">
                  <a:moveTo>
                    <a:pt x="131572" y="0"/>
                  </a:moveTo>
                  <a:lnTo>
                    <a:pt x="658799" y="0"/>
                  </a:lnTo>
                  <a:cubicBezTo>
                    <a:pt x="731464" y="0"/>
                    <a:pt x="790370" y="58907"/>
                    <a:pt x="790370" y="131572"/>
                  </a:cubicBezTo>
                  <a:lnTo>
                    <a:pt x="790370" y="813826"/>
                  </a:lnTo>
                  <a:cubicBezTo>
                    <a:pt x="790370" y="848721"/>
                    <a:pt x="776508" y="882187"/>
                    <a:pt x="751834" y="906861"/>
                  </a:cubicBezTo>
                  <a:cubicBezTo>
                    <a:pt x="727159" y="931536"/>
                    <a:pt x="693694" y="945398"/>
                    <a:pt x="658799" y="945398"/>
                  </a:cubicBezTo>
                  <a:lnTo>
                    <a:pt x="131572" y="945398"/>
                  </a:lnTo>
                  <a:cubicBezTo>
                    <a:pt x="96677" y="945398"/>
                    <a:pt x="63211" y="931536"/>
                    <a:pt x="38536" y="906861"/>
                  </a:cubicBezTo>
                  <a:cubicBezTo>
                    <a:pt x="13862" y="882187"/>
                    <a:pt x="0" y="848721"/>
                    <a:pt x="0" y="813826"/>
                  </a:cubicBezTo>
                  <a:lnTo>
                    <a:pt x="0" y="131572"/>
                  </a:lnTo>
                  <a:cubicBezTo>
                    <a:pt x="0" y="96677"/>
                    <a:pt x="13862" y="63211"/>
                    <a:pt x="38536" y="38536"/>
                  </a:cubicBezTo>
                  <a:cubicBezTo>
                    <a:pt x="63211" y="13862"/>
                    <a:pt x="96677" y="0"/>
                    <a:pt x="131572" y="0"/>
                  </a:cubicBezTo>
                  <a:close/>
                </a:path>
              </a:pathLst>
            </a:custGeom>
            <a:solidFill>
              <a:srgbClr val="E8ECEC"/>
            </a:solidFill>
          </p:spPr>
        </p:sp>
        <p:sp>
          <p:nvSpPr>
            <p:cNvPr id="18" name="TextBox 18"/>
            <p:cNvSpPr txBox="1"/>
            <p:nvPr/>
          </p:nvSpPr>
          <p:spPr>
            <a:xfrm>
              <a:off x="0" y="-28575"/>
              <a:ext cx="790370" cy="97397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id="19" name="Group 19"/>
          <p:cNvGrpSpPr/>
          <p:nvPr/>
        </p:nvGrpSpPr>
        <p:grpSpPr>
          <a:xfrm rot="2807003">
            <a:off x="14118452" y="1294452"/>
            <a:ext cx="3294552" cy="2703321"/>
            <a:chOff x="0" y="0"/>
            <a:chExt cx="1810153" cy="1485308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1810153" cy="1485308"/>
            </a:xfrm>
            <a:custGeom>
              <a:avLst/>
              <a:gdLst/>
              <a:ahLst/>
              <a:cxnLst/>
              <a:rect l="l" t="t" r="r" b="b"/>
              <a:pathLst>
                <a:path w="1810153" h="1485308">
                  <a:moveTo>
                    <a:pt x="119846" y="0"/>
                  </a:moveTo>
                  <a:lnTo>
                    <a:pt x="1690308" y="0"/>
                  </a:lnTo>
                  <a:cubicBezTo>
                    <a:pt x="1722093" y="0"/>
                    <a:pt x="1752576" y="12627"/>
                    <a:pt x="1775052" y="35102"/>
                  </a:cubicBezTo>
                  <a:cubicBezTo>
                    <a:pt x="1797527" y="57577"/>
                    <a:pt x="1810153" y="88061"/>
                    <a:pt x="1810153" y="119846"/>
                  </a:cubicBezTo>
                  <a:lnTo>
                    <a:pt x="1810153" y="1365463"/>
                  </a:lnTo>
                  <a:cubicBezTo>
                    <a:pt x="1810153" y="1397248"/>
                    <a:pt x="1797527" y="1427731"/>
                    <a:pt x="1775052" y="1450206"/>
                  </a:cubicBezTo>
                  <a:cubicBezTo>
                    <a:pt x="1752576" y="1472682"/>
                    <a:pt x="1722093" y="1485308"/>
                    <a:pt x="1690308" y="1485308"/>
                  </a:cubicBezTo>
                  <a:lnTo>
                    <a:pt x="119846" y="1485308"/>
                  </a:lnTo>
                  <a:cubicBezTo>
                    <a:pt x="53657" y="1485308"/>
                    <a:pt x="0" y="1431652"/>
                    <a:pt x="0" y="1365463"/>
                  </a:cubicBezTo>
                  <a:lnTo>
                    <a:pt x="0" y="119846"/>
                  </a:lnTo>
                  <a:cubicBezTo>
                    <a:pt x="0" y="88061"/>
                    <a:pt x="12627" y="57577"/>
                    <a:pt x="35102" y="35102"/>
                  </a:cubicBezTo>
                  <a:cubicBezTo>
                    <a:pt x="57577" y="12627"/>
                    <a:pt x="88061" y="0"/>
                    <a:pt x="119846" y="0"/>
                  </a:cubicBezTo>
                  <a:close/>
                </a:path>
              </a:pathLst>
            </a:custGeom>
            <a:solidFill>
              <a:srgbClr val="0345E4">
                <a:alpha val="29804"/>
              </a:srgbClr>
            </a:solidFill>
          </p:spPr>
        </p:sp>
        <p:sp>
          <p:nvSpPr>
            <p:cNvPr id="21" name="TextBox 21"/>
            <p:cNvSpPr txBox="1"/>
            <p:nvPr/>
          </p:nvSpPr>
          <p:spPr>
            <a:xfrm>
              <a:off x="0" y="-38100"/>
              <a:ext cx="1810153" cy="152340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sp>
        <p:nvSpPr>
          <p:cNvPr id="22" name="TextBox 22"/>
          <p:cNvSpPr txBox="1"/>
          <p:nvPr/>
        </p:nvSpPr>
        <p:spPr>
          <a:xfrm rot="2809967">
            <a:off x="14349750" y="1768000"/>
            <a:ext cx="2873637" cy="17171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575"/>
              </a:lnSpc>
            </a:pPr>
            <a:r>
              <a:rPr lang="en-US" sz="3270" b="1">
                <a:solidFill>
                  <a:srgbClr val="142F52"/>
                </a:solidFill>
                <a:latin typeface="Merriweather Bold" panose="00000800000000000000"/>
                <a:ea typeface="Merriweather Bold" panose="00000800000000000000"/>
                <a:cs typeface="Merriweather Bold" panose="00000800000000000000"/>
                <a:sym typeface="Merriweather Bold" panose="00000800000000000000"/>
              </a:rPr>
              <a:t>OpenSky State Vectors</a:t>
            </a:r>
            <a:endParaRPr lang="en-US" sz="3270" b="1">
              <a:solidFill>
                <a:srgbClr val="142F52"/>
              </a:solidFill>
              <a:latin typeface="Merriweather Bold" panose="00000800000000000000"/>
              <a:ea typeface="Merriweather Bold" panose="00000800000000000000"/>
              <a:cs typeface="Merriweather Bold" panose="00000800000000000000"/>
              <a:sym typeface="Merriweather Bold" panose="00000800000000000000"/>
            </a:endParaRPr>
          </a:p>
          <a:p>
            <a:pPr algn="ctr">
              <a:lnSpc>
                <a:spcPts val="4575"/>
              </a:lnSpc>
              <a:spcBef>
                <a:spcPct val="0"/>
              </a:spcBef>
            </a:pPr>
            <a:r>
              <a:rPr lang="en-US" sz="3270" b="1">
                <a:solidFill>
                  <a:srgbClr val="142F52"/>
                </a:solidFill>
                <a:latin typeface="Merriweather Bold" panose="00000800000000000000"/>
                <a:ea typeface="Merriweather Bold" panose="00000800000000000000"/>
                <a:cs typeface="Merriweather Bold" panose="00000800000000000000"/>
                <a:sym typeface="Merriweather Bold" panose="00000800000000000000"/>
              </a:rPr>
              <a:t>(2017–2022)</a:t>
            </a:r>
            <a:endParaRPr lang="en-US" sz="3270" b="1">
              <a:solidFill>
                <a:srgbClr val="142F52"/>
              </a:solidFill>
              <a:latin typeface="Merriweather Bold" panose="00000800000000000000"/>
              <a:ea typeface="Merriweather Bold" panose="00000800000000000000"/>
              <a:cs typeface="Merriweather Bold" panose="00000800000000000000"/>
              <a:sym typeface="Merriweather Bold" panose="00000800000000000000"/>
            </a:endParaRPr>
          </a:p>
        </p:txBody>
      </p:sp>
      <p:grpSp>
        <p:nvGrpSpPr>
          <p:cNvPr id="23" name="Group 23"/>
          <p:cNvGrpSpPr/>
          <p:nvPr/>
        </p:nvGrpSpPr>
        <p:grpSpPr>
          <a:xfrm rot="-4838693">
            <a:off x="9012682" y="5961718"/>
            <a:ext cx="2505432" cy="2542310"/>
            <a:chOff x="0" y="0"/>
            <a:chExt cx="1376581" cy="1396843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1376581" cy="1396843"/>
            </a:xfrm>
            <a:custGeom>
              <a:avLst/>
              <a:gdLst/>
              <a:ahLst/>
              <a:cxnLst/>
              <a:rect l="l" t="t" r="r" b="b"/>
              <a:pathLst>
                <a:path w="1376581" h="1396843">
                  <a:moveTo>
                    <a:pt x="157593" y="0"/>
                  </a:moveTo>
                  <a:lnTo>
                    <a:pt x="1218988" y="0"/>
                  </a:lnTo>
                  <a:cubicBezTo>
                    <a:pt x="1260784" y="0"/>
                    <a:pt x="1300869" y="16603"/>
                    <a:pt x="1330423" y="46158"/>
                  </a:cubicBezTo>
                  <a:cubicBezTo>
                    <a:pt x="1359977" y="75712"/>
                    <a:pt x="1376581" y="115797"/>
                    <a:pt x="1376581" y="157593"/>
                  </a:cubicBezTo>
                  <a:lnTo>
                    <a:pt x="1376581" y="1239250"/>
                  </a:lnTo>
                  <a:cubicBezTo>
                    <a:pt x="1376581" y="1281046"/>
                    <a:pt x="1359977" y="1321131"/>
                    <a:pt x="1330423" y="1350685"/>
                  </a:cubicBezTo>
                  <a:cubicBezTo>
                    <a:pt x="1300869" y="1380239"/>
                    <a:pt x="1260784" y="1396843"/>
                    <a:pt x="1218988" y="1396843"/>
                  </a:cubicBezTo>
                  <a:lnTo>
                    <a:pt x="157593" y="1396843"/>
                  </a:lnTo>
                  <a:cubicBezTo>
                    <a:pt x="115797" y="1396843"/>
                    <a:pt x="75712" y="1380239"/>
                    <a:pt x="46158" y="1350685"/>
                  </a:cubicBezTo>
                  <a:cubicBezTo>
                    <a:pt x="16603" y="1321131"/>
                    <a:pt x="0" y="1281046"/>
                    <a:pt x="0" y="1239250"/>
                  </a:cubicBezTo>
                  <a:lnTo>
                    <a:pt x="0" y="157593"/>
                  </a:lnTo>
                  <a:cubicBezTo>
                    <a:pt x="0" y="115797"/>
                    <a:pt x="16603" y="75712"/>
                    <a:pt x="46158" y="46158"/>
                  </a:cubicBezTo>
                  <a:cubicBezTo>
                    <a:pt x="75712" y="16603"/>
                    <a:pt x="115797" y="0"/>
                    <a:pt x="157593" y="0"/>
                  </a:cubicBezTo>
                  <a:close/>
                </a:path>
              </a:pathLst>
            </a:custGeom>
            <a:solidFill>
              <a:srgbClr val="BDDEE8">
                <a:alpha val="29804"/>
              </a:srgbClr>
            </a:solidFill>
          </p:spPr>
        </p:sp>
        <p:sp>
          <p:nvSpPr>
            <p:cNvPr id="25" name="TextBox 25"/>
            <p:cNvSpPr txBox="1"/>
            <p:nvPr/>
          </p:nvSpPr>
          <p:spPr>
            <a:xfrm>
              <a:off x="0" y="-38100"/>
              <a:ext cx="1376581" cy="143494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id="26" name="Group 26"/>
          <p:cNvGrpSpPr/>
          <p:nvPr/>
        </p:nvGrpSpPr>
        <p:grpSpPr>
          <a:xfrm rot="8876836">
            <a:off x="8021523" y="6129639"/>
            <a:ext cx="3000937" cy="3209295"/>
            <a:chOff x="0" y="0"/>
            <a:chExt cx="790370" cy="845246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790370" cy="845246"/>
            </a:xfrm>
            <a:custGeom>
              <a:avLst/>
              <a:gdLst/>
              <a:ahLst/>
              <a:cxnLst/>
              <a:rect l="l" t="t" r="r" b="b"/>
              <a:pathLst>
                <a:path w="790370" h="845246">
                  <a:moveTo>
                    <a:pt x="131572" y="0"/>
                  </a:moveTo>
                  <a:lnTo>
                    <a:pt x="658799" y="0"/>
                  </a:lnTo>
                  <a:cubicBezTo>
                    <a:pt x="731464" y="0"/>
                    <a:pt x="790370" y="58907"/>
                    <a:pt x="790370" y="131572"/>
                  </a:cubicBezTo>
                  <a:lnTo>
                    <a:pt x="790370" y="713675"/>
                  </a:lnTo>
                  <a:cubicBezTo>
                    <a:pt x="790370" y="748570"/>
                    <a:pt x="776508" y="782036"/>
                    <a:pt x="751834" y="806710"/>
                  </a:cubicBezTo>
                  <a:cubicBezTo>
                    <a:pt x="727159" y="831384"/>
                    <a:pt x="693694" y="845246"/>
                    <a:pt x="658799" y="845246"/>
                  </a:cubicBezTo>
                  <a:lnTo>
                    <a:pt x="131572" y="845246"/>
                  </a:lnTo>
                  <a:cubicBezTo>
                    <a:pt x="96677" y="845246"/>
                    <a:pt x="63211" y="831384"/>
                    <a:pt x="38536" y="806710"/>
                  </a:cubicBezTo>
                  <a:cubicBezTo>
                    <a:pt x="13862" y="782036"/>
                    <a:pt x="0" y="748570"/>
                    <a:pt x="0" y="713675"/>
                  </a:cubicBezTo>
                  <a:lnTo>
                    <a:pt x="0" y="131572"/>
                  </a:lnTo>
                  <a:cubicBezTo>
                    <a:pt x="0" y="96677"/>
                    <a:pt x="13862" y="63211"/>
                    <a:pt x="38536" y="38536"/>
                  </a:cubicBezTo>
                  <a:cubicBezTo>
                    <a:pt x="63211" y="13862"/>
                    <a:pt x="96677" y="0"/>
                    <a:pt x="131572" y="0"/>
                  </a:cubicBezTo>
                  <a:close/>
                </a:path>
              </a:pathLst>
            </a:custGeom>
            <a:solidFill>
              <a:srgbClr val="E8ECEC"/>
            </a:solidFill>
          </p:spPr>
        </p:sp>
        <p:sp>
          <p:nvSpPr>
            <p:cNvPr id="28" name="TextBox 28"/>
            <p:cNvSpPr txBox="1"/>
            <p:nvPr/>
          </p:nvSpPr>
          <p:spPr>
            <a:xfrm>
              <a:off x="0" y="-28575"/>
              <a:ext cx="790370" cy="87382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id="29" name="Group 29"/>
          <p:cNvGrpSpPr/>
          <p:nvPr/>
        </p:nvGrpSpPr>
        <p:grpSpPr>
          <a:xfrm rot="-7323163">
            <a:off x="8087382" y="6341928"/>
            <a:ext cx="2818254" cy="2703321"/>
            <a:chOff x="0" y="0"/>
            <a:chExt cx="1548457" cy="1485308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1548457" cy="1485308"/>
            </a:xfrm>
            <a:custGeom>
              <a:avLst/>
              <a:gdLst/>
              <a:ahLst/>
              <a:cxnLst/>
              <a:rect l="l" t="t" r="r" b="b"/>
              <a:pathLst>
                <a:path w="1548457" h="1485308">
                  <a:moveTo>
                    <a:pt x="140100" y="0"/>
                  </a:moveTo>
                  <a:lnTo>
                    <a:pt x="1408357" y="0"/>
                  </a:lnTo>
                  <a:cubicBezTo>
                    <a:pt x="1485732" y="0"/>
                    <a:pt x="1548457" y="62725"/>
                    <a:pt x="1548457" y="140100"/>
                  </a:cubicBezTo>
                  <a:lnTo>
                    <a:pt x="1548457" y="1345208"/>
                  </a:lnTo>
                  <a:cubicBezTo>
                    <a:pt x="1548457" y="1382365"/>
                    <a:pt x="1533696" y="1418000"/>
                    <a:pt x="1507422" y="1444274"/>
                  </a:cubicBezTo>
                  <a:cubicBezTo>
                    <a:pt x="1481149" y="1470548"/>
                    <a:pt x="1445514" y="1485308"/>
                    <a:pt x="1408357" y="1485308"/>
                  </a:cubicBezTo>
                  <a:lnTo>
                    <a:pt x="140100" y="1485308"/>
                  </a:lnTo>
                  <a:cubicBezTo>
                    <a:pt x="102943" y="1485308"/>
                    <a:pt x="67308" y="1470548"/>
                    <a:pt x="41034" y="1444274"/>
                  </a:cubicBezTo>
                  <a:cubicBezTo>
                    <a:pt x="14761" y="1418000"/>
                    <a:pt x="0" y="1382365"/>
                    <a:pt x="0" y="1345208"/>
                  </a:cubicBezTo>
                  <a:lnTo>
                    <a:pt x="0" y="140100"/>
                  </a:lnTo>
                  <a:cubicBezTo>
                    <a:pt x="0" y="102943"/>
                    <a:pt x="14761" y="67308"/>
                    <a:pt x="41034" y="41034"/>
                  </a:cubicBezTo>
                  <a:cubicBezTo>
                    <a:pt x="67308" y="14761"/>
                    <a:pt x="102943" y="0"/>
                    <a:pt x="140100" y="0"/>
                  </a:cubicBezTo>
                  <a:close/>
                </a:path>
              </a:pathLst>
            </a:custGeom>
            <a:solidFill>
              <a:srgbClr val="0345E4">
                <a:alpha val="29804"/>
              </a:srgbClr>
            </a:solidFill>
          </p:spPr>
        </p:sp>
        <p:sp>
          <p:nvSpPr>
            <p:cNvPr id="31" name="TextBox 31"/>
            <p:cNvSpPr txBox="1"/>
            <p:nvPr/>
          </p:nvSpPr>
          <p:spPr>
            <a:xfrm>
              <a:off x="0" y="-38100"/>
              <a:ext cx="1548457" cy="152340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sp>
        <p:nvSpPr>
          <p:cNvPr id="32" name="TextBox 32"/>
          <p:cNvSpPr txBox="1"/>
          <p:nvPr/>
        </p:nvSpPr>
        <p:spPr>
          <a:xfrm rot="-1933695">
            <a:off x="8344628" y="6807227"/>
            <a:ext cx="2296225" cy="17171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575"/>
              </a:lnSpc>
              <a:spcBef>
                <a:spcPct val="0"/>
              </a:spcBef>
            </a:pPr>
            <a:r>
              <a:rPr lang="en-US" sz="3270" b="1">
                <a:solidFill>
                  <a:srgbClr val="142F52"/>
                </a:solidFill>
                <a:latin typeface="Merriweather Bold" panose="00000800000000000000"/>
                <a:ea typeface="Merriweather Bold" panose="00000800000000000000"/>
                <a:cs typeface="Merriweather Bold" panose="00000800000000000000"/>
                <a:sym typeface="Merriweather Bold" panose="00000800000000000000"/>
              </a:rPr>
              <a:t>Amelia 42 Mini Dataset</a:t>
            </a:r>
            <a:endParaRPr lang="en-US" sz="3270" b="1">
              <a:solidFill>
                <a:srgbClr val="142F52"/>
              </a:solidFill>
              <a:latin typeface="Merriweather Bold" panose="00000800000000000000"/>
              <a:ea typeface="Merriweather Bold" panose="00000800000000000000"/>
              <a:cs typeface="Merriweather Bold" panose="00000800000000000000"/>
              <a:sym typeface="Merriweather Bold" panose="00000800000000000000"/>
            </a:endParaRPr>
          </a:p>
        </p:txBody>
      </p:sp>
      <p:grpSp>
        <p:nvGrpSpPr>
          <p:cNvPr id="33" name="Group 33"/>
          <p:cNvGrpSpPr/>
          <p:nvPr/>
        </p:nvGrpSpPr>
        <p:grpSpPr>
          <a:xfrm rot="10332143">
            <a:off x="13949463" y="5867153"/>
            <a:ext cx="2505432" cy="2542310"/>
            <a:chOff x="0" y="0"/>
            <a:chExt cx="1376581" cy="1396843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1376581" cy="1396843"/>
            </a:xfrm>
            <a:custGeom>
              <a:avLst/>
              <a:gdLst/>
              <a:ahLst/>
              <a:cxnLst/>
              <a:rect l="l" t="t" r="r" b="b"/>
              <a:pathLst>
                <a:path w="1376581" h="1396843">
                  <a:moveTo>
                    <a:pt x="157593" y="0"/>
                  </a:moveTo>
                  <a:lnTo>
                    <a:pt x="1218988" y="0"/>
                  </a:lnTo>
                  <a:cubicBezTo>
                    <a:pt x="1260784" y="0"/>
                    <a:pt x="1300869" y="16603"/>
                    <a:pt x="1330423" y="46158"/>
                  </a:cubicBezTo>
                  <a:cubicBezTo>
                    <a:pt x="1359977" y="75712"/>
                    <a:pt x="1376581" y="115797"/>
                    <a:pt x="1376581" y="157593"/>
                  </a:cubicBezTo>
                  <a:lnTo>
                    <a:pt x="1376581" y="1239250"/>
                  </a:lnTo>
                  <a:cubicBezTo>
                    <a:pt x="1376581" y="1281046"/>
                    <a:pt x="1359977" y="1321131"/>
                    <a:pt x="1330423" y="1350685"/>
                  </a:cubicBezTo>
                  <a:cubicBezTo>
                    <a:pt x="1300869" y="1380239"/>
                    <a:pt x="1260784" y="1396843"/>
                    <a:pt x="1218988" y="1396843"/>
                  </a:cubicBezTo>
                  <a:lnTo>
                    <a:pt x="157593" y="1396843"/>
                  </a:lnTo>
                  <a:cubicBezTo>
                    <a:pt x="115797" y="1396843"/>
                    <a:pt x="75712" y="1380239"/>
                    <a:pt x="46158" y="1350685"/>
                  </a:cubicBezTo>
                  <a:cubicBezTo>
                    <a:pt x="16603" y="1321131"/>
                    <a:pt x="0" y="1281046"/>
                    <a:pt x="0" y="1239250"/>
                  </a:cubicBezTo>
                  <a:lnTo>
                    <a:pt x="0" y="157593"/>
                  </a:lnTo>
                  <a:cubicBezTo>
                    <a:pt x="0" y="115797"/>
                    <a:pt x="16603" y="75712"/>
                    <a:pt x="46158" y="46158"/>
                  </a:cubicBezTo>
                  <a:cubicBezTo>
                    <a:pt x="75712" y="16603"/>
                    <a:pt x="115797" y="0"/>
                    <a:pt x="157593" y="0"/>
                  </a:cubicBezTo>
                  <a:close/>
                </a:path>
              </a:pathLst>
            </a:custGeom>
            <a:solidFill>
              <a:srgbClr val="BDDEE8">
                <a:alpha val="29804"/>
              </a:srgbClr>
            </a:solidFill>
          </p:spPr>
        </p:sp>
        <p:sp>
          <p:nvSpPr>
            <p:cNvPr id="35" name="TextBox 35"/>
            <p:cNvSpPr txBox="1"/>
            <p:nvPr/>
          </p:nvSpPr>
          <p:spPr>
            <a:xfrm>
              <a:off x="0" y="-38100"/>
              <a:ext cx="1376581" cy="143494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id="36" name="Group 36"/>
          <p:cNvGrpSpPr/>
          <p:nvPr/>
        </p:nvGrpSpPr>
        <p:grpSpPr>
          <a:xfrm rot="1930707">
            <a:off x="14424754" y="6054641"/>
            <a:ext cx="3087755" cy="3302141"/>
            <a:chOff x="0" y="0"/>
            <a:chExt cx="790370" cy="845246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790370" cy="845246"/>
            </a:xfrm>
            <a:custGeom>
              <a:avLst/>
              <a:gdLst/>
              <a:ahLst/>
              <a:cxnLst/>
              <a:rect l="l" t="t" r="r" b="b"/>
              <a:pathLst>
                <a:path w="790370" h="845246">
                  <a:moveTo>
                    <a:pt x="127872" y="0"/>
                  </a:moveTo>
                  <a:lnTo>
                    <a:pt x="662498" y="0"/>
                  </a:lnTo>
                  <a:cubicBezTo>
                    <a:pt x="733120" y="0"/>
                    <a:pt x="790370" y="57250"/>
                    <a:pt x="790370" y="127872"/>
                  </a:cubicBezTo>
                  <a:lnTo>
                    <a:pt x="790370" y="717374"/>
                  </a:lnTo>
                  <a:cubicBezTo>
                    <a:pt x="790370" y="751288"/>
                    <a:pt x="776898" y="783813"/>
                    <a:pt x="752917" y="807793"/>
                  </a:cubicBezTo>
                  <a:cubicBezTo>
                    <a:pt x="728937" y="831774"/>
                    <a:pt x="696412" y="845246"/>
                    <a:pt x="662498" y="845246"/>
                  </a:cubicBezTo>
                  <a:lnTo>
                    <a:pt x="127872" y="845246"/>
                  </a:lnTo>
                  <a:cubicBezTo>
                    <a:pt x="57250" y="845246"/>
                    <a:pt x="0" y="787996"/>
                    <a:pt x="0" y="717374"/>
                  </a:cubicBezTo>
                  <a:lnTo>
                    <a:pt x="0" y="127872"/>
                  </a:lnTo>
                  <a:cubicBezTo>
                    <a:pt x="0" y="93958"/>
                    <a:pt x="13472" y="61434"/>
                    <a:pt x="37453" y="37453"/>
                  </a:cubicBezTo>
                  <a:cubicBezTo>
                    <a:pt x="61434" y="13472"/>
                    <a:pt x="93958" y="0"/>
                    <a:pt x="127872" y="0"/>
                  </a:cubicBezTo>
                  <a:close/>
                </a:path>
              </a:pathLst>
            </a:custGeom>
            <a:solidFill>
              <a:srgbClr val="E8ECEC"/>
            </a:solidFill>
          </p:spPr>
        </p:sp>
        <p:sp>
          <p:nvSpPr>
            <p:cNvPr id="38" name="TextBox 38"/>
            <p:cNvSpPr txBox="1"/>
            <p:nvPr/>
          </p:nvSpPr>
          <p:spPr>
            <a:xfrm>
              <a:off x="0" y="-28575"/>
              <a:ext cx="790370" cy="87382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id="39" name="Group 39"/>
          <p:cNvGrpSpPr/>
          <p:nvPr/>
        </p:nvGrpSpPr>
        <p:grpSpPr>
          <a:xfrm rot="7330707">
            <a:off x="14492426" y="6356765"/>
            <a:ext cx="2899787" cy="2781529"/>
            <a:chOff x="0" y="0"/>
            <a:chExt cx="1548457" cy="1485308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1548457" cy="1485308"/>
            </a:xfrm>
            <a:custGeom>
              <a:avLst/>
              <a:gdLst/>
              <a:ahLst/>
              <a:cxnLst/>
              <a:rect l="l" t="t" r="r" b="b"/>
              <a:pathLst>
                <a:path w="1548457" h="1485308">
                  <a:moveTo>
                    <a:pt x="136161" y="0"/>
                  </a:moveTo>
                  <a:lnTo>
                    <a:pt x="1412296" y="0"/>
                  </a:lnTo>
                  <a:cubicBezTo>
                    <a:pt x="1487495" y="0"/>
                    <a:pt x="1548457" y="60961"/>
                    <a:pt x="1548457" y="136161"/>
                  </a:cubicBezTo>
                  <a:lnTo>
                    <a:pt x="1548457" y="1349147"/>
                  </a:lnTo>
                  <a:cubicBezTo>
                    <a:pt x="1548457" y="1385260"/>
                    <a:pt x="1534111" y="1419893"/>
                    <a:pt x="1508576" y="1445428"/>
                  </a:cubicBezTo>
                  <a:cubicBezTo>
                    <a:pt x="1483041" y="1470963"/>
                    <a:pt x="1448408" y="1485308"/>
                    <a:pt x="1412296" y="1485308"/>
                  </a:cubicBezTo>
                  <a:lnTo>
                    <a:pt x="136161" y="1485308"/>
                  </a:lnTo>
                  <a:cubicBezTo>
                    <a:pt x="60961" y="1485308"/>
                    <a:pt x="0" y="1424347"/>
                    <a:pt x="0" y="1349147"/>
                  </a:cubicBezTo>
                  <a:lnTo>
                    <a:pt x="0" y="136161"/>
                  </a:lnTo>
                  <a:cubicBezTo>
                    <a:pt x="0" y="60961"/>
                    <a:pt x="60961" y="0"/>
                    <a:pt x="136161" y="0"/>
                  </a:cubicBezTo>
                  <a:close/>
                </a:path>
              </a:pathLst>
            </a:custGeom>
            <a:solidFill>
              <a:srgbClr val="0345E4">
                <a:alpha val="29804"/>
              </a:srgbClr>
            </a:solidFill>
          </p:spPr>
        </p:sp>
        <p:sp>
          <p:nvSpPr>
            <p:cNvPr id="41" name="TextBox 41"/>
            <p:cNvSpPr txBox="1"/>
            <p:nvPr/>
          </p:nvSpPr>
          <p:spPr>
            <a:xfrm>
              <a:off x="0" y="-38100"/>
              <a:ext cx="1548457" cy="152340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sp>
        <p:nvSpPr>
          <p:cNvPr id="42" name="TextBox 42"/>
          <p:cNvSpPr txBox="1"/>
          <p:nvPr/>
        </p:nvSpPr>
        <p:spPr>
          <a:xfrm rot="1971589">
            <a:off x="14647939" y="6503752"/>
            <a:ext cx="2769182" cy="23629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10"/>
              </a:lnSpc>
              <a:spcBef>
                <a:spcPct val="0"/>
              </a:spcBef>
            </a:pPr>
            <a:r>
              <a:rPr lang="en-US" sz="3365" b="1">
                <a:solidFill>
                  <a:srgbClr val="142F52"/>
                </a:solidFill>
                <a:latin typeface="Merriweather Bold" panose="00000800000000000000"/>
                <a:ea typeface="Merriweather Bold" panose="00000800000000000000"/>
                <a:cs typeface="Merriweather Bold" panose="00000800000000000000"/>
                <a:sym typeface="Merriweather Bold" panose="00000800000000000000"/>
              </a:rPr>
              <a:t>OpenSky AirCraft Metadata (2021-2025)</a:t>
            </a:r>
            <a:endParaRPr lang="en-US" sz="3365" b="1">
              <a:solidFill>
                <a:srgbClr val="142F52"/>
              </a:solidFill>
              <a:latin typeface="Merriweather Bold" panose="00000800000000000000"/>
              <a:ea typeface="Merriweather Bold" panose="00000800000000000000"/>
              <a:cs typeface="Merriweather Bold" panose="00000800000000000000"/>
              <a:sym typeface="Merriweather Bold" panose="00000800000000000000"/>
            </a:endParaRPr>
          </a:p>
        </p:txBody>
      </p:sp>
      <p:grpSp>
        <p:nvGrpSpPr>
          <p:cNvPr id="43" name="Group 43"/>
          <p:cNvGrpSpPr/>
          <p:nvPr/>
        </p:nvGrpSpPr>
        <p:grpSpPr>
          <a:xfrm rot="-8319463">
            <a:off x="10852746" y="3445046"/>
            <a:ext cx="3880575" cy="3873913"/>
            <a:chOff x="0" y="0"/>
            <a:chExt cx="933631" cy="932307"/>
          </a:xfrm>
        </p:grpSpPr>
        <p:sp>
          <p:nvSpPr>
            <p:cNvPr id="44" name="Freeform 44"/>
            <p:cNvSpPr/>
            <p:nvPr/>
          </p:nvSpPr>
          <p:spPr>
            <a:xfrm>
              <a:off x="6948" y="0"/>
              <a:ext cx="919734" cy="930830"/>
            </a:xfrm>
            <a:custGeom>
              <a:avLst/>
              <a:gdLst/>
              <a:ahLst/>
              <a:cxnLst/>
              <a:rect l="l" t="t" r="r" b="b"/>
              <a:pathLst>
                <a:path w="919734" h="930830">
                  <a:moveTo>
                    <a:pt x="617417" y="28073"/>
                  </a:moveTo>
                  <a:lnTo>
                    <a:pt x="617417" y="28073"/>
                  </a:lnTo>
                  <a:cubicBezTo>
                    <a:pt x="667605" y="46646"/>
                    <a:pt x="714171" y="73824"/>
                    <a:pt x="755026" y="108387"/>
                  </a:cubicBezTo>
                  <a:lnTo>
                    <a:pt x="755274" y="108597"/>
                  </a:lnTo>
                  <a:cubicBezTo>
                    <a:pt x="796287" y="143294"/>
                    <a:pt x="830885" y="184929"/>
                    <a:pt x="857488" y="231601"/>
                  </a:cubicBezTo>
                  <a:lnTo>
                    <a:pt x="858503" y="233381"/>
                  </a:lnTo>
                  <a:cubicBezTo>
                    <a:pt x="885273" y="280345"/>
                    <a:pt x="903655" y="331615"/>
                    <a:pt x="912824" y="384891"/>
                  </a:cubicBezTo>
                  <a:lnTo>
                    <a:pt x="912824" y="384891"/>
                  </a:lnTo>
                  <a:cubicBezTo>
                    <a:pt x="921996" y="438185"/>
                    <a:pt x="922038" y="492651"/>
                    <a:pt x="912946" y="545960"/>
                  </a:cubicBezTo>
                  <a:lnTo>
                    <a:pt x="912724" y="547263"/>
                  </a:lnTo>
                  <a:cubicBezTo>
                    <a:pt x="903624" y="600626"/>
                    <a:pt x="885136" y="651952"/>
                    <a:pt x="858119" y="698861"/>
                  </a:cubicBezTo>
                  <a:lnTo>
                    <a:pt x="857803" y="699409"/>
                  </a:lnTo>
                  <a:cubicBezTo>
                    <a:pt x="830986" y="745971"/>
                    <a:pt x="796295" y="787528"/>
                    <a:pt x="755274" y="822233"/>
                  </a:cubicBezTo>
                  <a:lnTo>
                    <a:pt x="755026" y="822442"/>
                  </a:lnTo>
                  <a:cubicBezTo>
                    <a:pt x="714171" y="857006"/>
                    <a:pt x="667605" y="884184"/>
                    <a:pt x="617417" y="902757"/>
                  </a:cubicBezTo>
                  <a:lnTo>
                    <a:pt x="617417" y="902757"/>
                  </a:lnTo>
                  <a:cubicBezTo>
                    <a:pt x="567245" y="921324"/>
                    <a:pt x="514173" y="930830"/>
                    <a:pt x="460675" y="930830"/>
                  </a:cubicBezTo>
                  <a:lnTo>
                    <a:pt x="459060" y="930830"/>
                  </a:lnTo>
                  <a:cubicBezTo>
                    <a:pt x="405562" y="930830"/>
                    <a:pt x="352490" y="921324"/>
                    <a:pt x="302317" y="902757"/>
                  </a:cubicBezTo>
                  <a:lnTo>
                    <a:pt x="302317" y="902757"/>
                  </a:lnTo>
                  <a:cubicBezTo>
                    <a:pt x="252130" y="884184"/>
                    <a:pt x="205563" y="857006"/>
                    <a:pt x="164708" y="822442"/>
                  </a:cubicBezTo>
                  <a:lnTo>
                    <a:pt x="164461" y="822233"/>
                  </a:lnTo>
                  <a:cubicBezTo>
                    <a:pt x="123439" y="787528"/>
                    <a:pt x="88748" y="745971"/>
                    <a:pt x="61931" y="699409"/>
                  </a:cubicBezTo>
                  <a:lnTo>
                    <a:pt x="61615" y="698861"/>
                  </a:lnTo>
                  <a:cubicBezTo>
                    <a:pt x="34599" y="651952"/>
                    <a:pt x="16111" y="600626"/>
                    <a:pt x="7010" y="547263"/>
                  </a:cubicBezTo>
                  <a:lnTo>
                    <a:pt x="6788" y="545960"/>
                  </a:lnTo>
                  <a:cubicBezTo>
                    <a:pt x="-2303" y="492651"/>
                    <a:pt x="-2262" y="438185"/>
                    <a:pt x="6911" y="384891"/>
                  </a:cubicBezTo>
                  <a:lnTo>
                    <a:pt x="6911" y="384891"/>
                  </a:lnTo>
                  <a:cubicBezTo>
                    <a:pt x="16079" y="331615"/>
                    <a:pt x="34461" y="280345"/>
                    <a:pt x="61232" y="233381"/>
                  </a:cubicBezTo>
                  <a:lnTo>
                    <a:pt x="62246" y="231601"/>
                  </a:lnTo>
                  <a:cubicBezTo>
                    <a:pt x="88850" y="184929"/>
                    <a:pt x="123447" y="143294"/>
                    <a:pt x="164461" y="108597"/>
                  </a:cubicBezTo>
                  <a:lnTo>
                    <a:pt x="164708" y="108387"/>
                  </a:lnTo>
                  <a:cubicBezTo>
                    <a:pt x="205563" y="73824"/>
                    <a:pt x="252130" y="46646"/>
                    <a:pt x="302317" y="28073"/>
                  </a:cubicBezTo>
                  <a:lnTo>
                    <a:pt x="302317" y="28073"/>
                  </a:lnTo>
                  <a:cubicBezTo>
                    <a:pt x="352490" y="9505"/>
                    <a:pt x="405562" y="0"/>
                    <a:pt x="459060" y="0"/>
                  </a:cubicBezTo>
                  <a:lnTo>
                    <a:pt x="460675" y="0"/>
                  </a:lnTo>
                  <a:cubicBezTo>
                    <a:pt x="514173" y="0"/>
                    <a:pt x="567245" y="9505"/>
                    <a:pt x="617417" y="28073"/>
                  </a:cubicBezTo>
                  <a:close/>
                </a:path>
              </a:pathLst>
            </a:custGeom>
            <a:solidFill>
              <a:srgbClr val="E8ECEC"/>
            </a:solidFill>
          </p:spPr>
        </p:sp>
        <p:sp>
          <p:nvSpPr>
            <p:cNvPr id="45" name="TextBox 45"/>
            <p:cNvSpPr txBox="1"/>
            <p:nvPr/>
          </p:nvSpPr>
          <p:spPr>
            <a:xfrm>
              <a:off x="140299" y="106341"/>
              <a:ext cx="653032" cy="68975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id="46" name="Group 46"/>
          <p:cNvGrpSpPr/>
          <p:nvPr/>
        </p:nvGrpSpPr>
        <p:grpSpPr>
          <a:xfrm rot="-2919463">
            <a:off x="10955693" y="3590103"/>
            <a:ext cx="3674682" cy="3583799"/>
            <a:chOff x="0" y="0"/>
            <a:chExt cx="2018986" cy="1969284"/>
          </a:xfrm>
        </p:grpSpPr>
        <p:sp>
          <p:nvSpPr>
            <p:cNvPr id="47" name="Freeform 47"/>
            <p:cNvSpPr/>
            <p:nvPr/>
          </p:nvSpPr>
          <p:spPr>
            <a:xfrm>
              <a:off x="15031" y="0"/>
              <a:ext cx="1988924" cy="1966163"/>
            </a:xfrm>
            <a:custGeom>
              <a:avLst/>
              <a:gdLst/>
              <a:ahLst/>
              <a:cxnLst/>
              <a:rect l="l" t="t" r="r" b="b"/>
              <a:pathLst>
                <a:path w="1988924" h="1966163">
                  <a:moveTo>
                    <a:pt x="1335166" y="59297"/>
                  </a:moveTo>
                  <a:lnTo>
                    <a:pt x="1335640" y="59468"/>
                  </a:lnTo>
                  <a:cubicBezTo>
                    <a:pt x="1443877" y="98593"/>
                    <a:pt x="1544563" y="156073"/>
                    <a:pt x="1633282" y="229386"/>
                  </a:cubicBezTo>
                  <a:lnTo>
                    <a:pt x="1633282" y="229386"/>
                  </a:lnTo>
                  <a:cubicBezTo>
                    <a:pt x="1721969" y="302672"/>
                    <a:pt x="1797031" y="391030"/>
                    <a:pt x="1855018" y="490396"/>
                  </a:cubicBezTo>
                  <a:lnTo>
                    <a:pt x="1856968" y="493737"/>
                  </a:lnTo>
                  <a:cubicBezTo>
                    <a:pt x="1914544" y="592399"/>
                    <a:pt x="1954164" y="700492"/>
                    <a:pt x="1973986" y="812993"/>
                  </a:cubicBezTo>
                  <a:lnTo>
                    <a:pt x="1973986" y="812993"/>
                  </a:lnTo>
                  <a:cubicBezTo>
                    <a:pt x="1993814" y="925526"/>
                    <a:pt x="1993904" y="1040652"/>
                    <a:pt x="1974250" y="1153217"/>
                  </a:cubicBezTo>
                  <a:lnTo>
                    <a:pt x="1973927" y="1155066"/>
                  </a:lnTo>
                  <a:cubicBezTo>
                    <a:pt x="1954149" y="1268345"/>
                    <a:pt x="1914094" y="1377127"/>
                    <a:pt x="1855686" y="1476183"/>
                  </a:cubicBezTo>
                  <a:lnTo>
                    <a:pt x="1855686" y="1476183"/>
                  </a:lnTo>
                  <a:cubicBezTo>
                    <a:pt x="1797245" y="1575294"/>
                    <a:pt x="1721992" y="1663472"/>
                    <a:pt x="1633298" y="1736764"/>
                  </a:cubicBezTo>
                  <a:lnTo>
                    <a:pt x="1633282" y="1736777"/>
                  </a:lnTo>
                  <a:cubicBezTo>
                    <a:pt x="1544563" y="1810090"/>
                    <a:pt x="1443877" y="1867570"/>
                    <a:pt x="1335640" y="1906695"/>
                  </a:cubicBezTo>
                  <a:lnTo>
                    <a:pt x="1335166" y="1906866"/>
                  </a:lnTo>
                  <a:cubicBezTo>
                    <a:pt x="1226631" y="1946098"/>
                    <a:pt x="1112101" y="1966163"/>
                    <a:pt x="996693" y="1966163"/>
                  </a:cubicBezTo>
                  <a:lnTo>
                    <a:pt x="992232" y="1966163"/>
                  </a:lnTo>
                  <a:cubicBezTo>
                    <a:pt x="876823" y="1966163"/>
                    <a:pt x="762293" y="1946098"/>
                    <a:pt x="653758" y="1906866"/>
                  </a:cubicBezTo>
                  <a:lnTo>
                    <a:pt x="653284" y="1906695"/>
                  </a:lnTo>
                  <a:cubicBezTo>
                    <a:pt x="545048" y="1867570"/>
                    <a:pt x="444361" y="1810090"/>
                    <a:pt x="355642" y="1736777"/>
                  </a:cubicBezTo>
                  <a:lnTo>
                    <a:pt x="355626" y="1736764"/>
                  </a:lnTo>
                  <a:cubicBezTo>
                    <a:pt x="266932" y="1663472"/>
                    <a:pt x="191679" y="1575294"/>
                    <a:pt x="133238" y="1476183"/>
                  </a:cubicBezTo>
                  <a:lnTo>
                    <a:pt x="133238" y="1476183"/>
                  </a:lnTo>
                  <a:cubicBezTo>
                    <a:pt x="74831" y="1377127"/>
                    <a:pt x="34775" y="1268345"/>
                    <a:pt x="14997" y="1155066"/>
                  </a:cubicBezTo>
                  <a:lnTo>
                    <a:pt x="14674" y="1153217"/>
                  </a:lnTo>
                  <a:cubicBezTo>
                    <a:pt x="-4979" y="1040652"/>
                    <a:pt x="-4890" y="925526"/>
                    <a:pt x="14938" y="812993"/>
                  </a:cubicBezTo>
                  <a:lnTo>
                    <a:pt x="14938" y="812993"/>
                  </a:lnTo>
                  <a:cubicBezTo>
                    <a:pt x="34761" y="700492"/>
                    <a:pt x="74380" y="592399"/>
                    <a:pt x="131957" y="493737"/>
                  </a:cubicBezTo>
                  <a:lnTo>
                    <a:pt x="133906" y="490396"/>
                  </a:lnTo>
                  <a:cubicBezTo>
                    <a:pt x="191893" y="391030"/>
                    <a:pt x="266956" y="302672"/>
                    <a:pt x="355642" y="229386"/>
                  </a:cubicBezTo>
                  <a:lnTo>
                    <a:pt x="355642" y="229386"/>
                  </a:lnTo>
                  <a:cubicBezTo>
                    <a:pt x="444361" y="156073"/>
                    <a:pt x="545048" y="98593"/>
                    <a:pt x="653284" y="59468"/>
                  </a:cubicBezTo>
                  <a:lnTo>
                    <a:pt x="653758" y="59297"/>
                  </a:lnTo>
                  <a:cubicBezTo>
                    <a:pt x="762293" y="20064"/>
                    <a:pt x="876823" y="0"/>
                    <a:pt x="992232" y="0"/>
                  </a:cubicBezTo>
                  <a:lnTo>
                    <a:pt x="996693" y="0"/>
                  </a:lnTo>
                  <a:cubicBezTo>
                    <a:pt x="1112101" y="0"/>
                    <a:pt x="1226631" y="20064"/>
                    <a:pt x="1335166" y="59297"/>
                  </a:cubicBezTo>
                  <a:close/>
                </a:path>
              </a:pathLst>
            </a:custGeom>
            <a:solidFill>
              <a:srgbClr val="0345E4">
                <a:alpha val="29804"/>
              </a:srgbClr>
            </a:solidFill>
          </p:spPr>
        </p:sp>
        <p:sp>
          <p:nvSpPr>
            <p:cNvPr id="48" name="TextBox 48"/>
            <p:cNvSpPr txBox="1"/>
            <p:nvPr/>
          </p:nvSpPr>
          <p:spPr>
            <a:xfrm>
              <a:off x="303399" y="246878"/>
              <a:ext cx="1412189" cy="14347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sp>
        <p:nvSpPr>
          <p:cNvPr id="49" name="TextBox 49"/>
          <p:cNvSpPr txBox="1"/>
          <p:nvPr/>
        </p:nvSpPr>
        <p:spPr>
          <a:xfrm>
            <a:off x="11175172" y="3977017"/>
            <a:ext cx="3235723" cy="23985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395"/>
              </a:lnSpc>
              <a:spcBef>
                <a:spcPct val="0"/>
              </a:spcBef>
            </a:pPr>
            <a:r>
              <a:rPr lang="en-US" sz="4570" b="1">
                <a:solidFill>
                  <a:srgbClr val="142F52"/>
                </a:solidFill>
                <a:latin typeface="Merriweather Bold" panose="00000800000000000000"/>
                <a:ea typeface="Merriweather Bold" panose="00000800000000000000"/>
                <a:cs typeface="Merriweather Bold" panose="00000800000000000000"/>
                <a:sym typeface="Merriweather Bold" panose="00000800000000000000"/>
              </a:rPr>
              <a:t>Data Fusion Pipeline</a:t>
            </a:r>
            <a:endParaRPr lang="en-US" sz="4570" b="1">
              <a:solidFill>
                <a:srgbClr val="142F52"/>
              </a:solidFill>
              <a:latin typeface="Merriweather Bold" panose="00000800000000000000"/>
              <a:ea typeface="Merriweather Bold" panose="00000800000000000000"/>
              <a:cs typeface="Merriweather Bold" panose="00000800000000000000"/>
              <a:sym typeface="Merriweather Bold" panose="00000800000000000000"/>
            </a:endParaRPr>
          </a:p>
        </p:txBody>
      </p:sp>
      <p:grpSp>
        <p:nvGrpSpPr>
          <p:cNvPr id="50" name="Group 50"/>
          <p:cNvGrpSpPr/>
          <p:nvPr/>
        </p:nvGrpSpPr>
        <p:grpSpPr>
          <a:xfrm rot="5400000">
            <a:off x="469701" y="2581015"/>
            <a:ext cx="7009844" cy="7038593"/>
            <a:chOff x="0" y="0"/>
            <a:chExt cx="3851477" cy="3867273"/>
          </a:xfrm>
        </p:grpSpPr>
        <p:sp>
          <p:nvSpPr>
            <p:cNvPr id="51" name="Freeform 51"/>
            <p:cNvSpPr/>
            <p:nvPr/>
          </p:nvSpPr>
          <p:spPr>
            <a:xfrm>
              <a:off x="0" y="0"/>
              <a:ext cx="3851477" cy="3867274"/>
            </a:xfrm>
            <a:custGeom>
              <a:avLst/>
              <a:gdLst/>
              <a:ahLst/>
              <a:cxnLst/>
              <a:rect l="l" t="t" r="r" b="b"/>
              <a:pathLst>
                <a:path w="3851477" h="3867274">
                  <a:moveTo>
                    <a:pt x="56326" y="0"/>
                  </a:moveTo>
                  <a:lnTo>
                    <a:pt x="3795151" y="0"/>
                  </a:lnTo>
                  <a:cubicBezTo>
                    <a:pt x="3810090" y="0"/>
                    <a:pt x="3824417" y="5934"/>
                    <a:pt x="3834980" y="16498"/>
                  </a:cubicBezTo>
                  <a:cubicBezTo>
                    <a:pt x="3845543" y="27061"/>
                    <a:pt x="3851477" y="41388"/>
                    <a:pt x="3851477" y="56326"/>
                  </a:cubicBezTo>
                  <a:lnTo>
                    <a:pt x="3851477" y="3810948"/>
                  </a:lnTo>
                  <a:cubicBezTo>
                    <a:pt x="3851477" y="3825886"/>
                    <a:pt x="3845543" y="3840213"/>
                    <a:pt x="3834980" y="3850776"/>
                  </a:cubicBezTo>
                  <a:cubicBezTo>
                    <a:pt x="3824417" y="3861339"/>
                    <a:pt x="3810090" y="3867274"/>
                    <a:pt x="3795151" y="3867274"/>
                  </a:cubicBezTo>
                  <a:lnTo>
                    <a:pt x="56326" y="3867274"/>
                  </a:lnTo>
                  <a:cubicBezTo>
                    <a:pt x="41388" y="3867274"/>
                    <a:pt x="27061" y="3861339"/>
                    <a:pt x="16498" y="3850776"/>
                  </a:cubicBezTo>
                  <a:cubicBezTo>
                    <a:pt x="5934" y="3840213"/>
                    <a:pt x="0" y="3825886"/>
                    <a:pt x="0" y="3810948"/>
                  </a:cubicBezTo>
                  <a:lnTo>
                    <a:pt x="0" y="56326"/>
                  </a:lnTo>
                  <a:cubicBezTo>
                    <a:pt x="0" y="41388"/>
                    <a:pt x="5934" y="27061"/>
                    <a:pt x="16498" y="16498"/>
                  </a:cubicBezTo>
                  <a:cubicBezTo>
                    <a:pt x="27061" y="5934"/>
                    <a:pt x="41388" y="0"/>
                    <a:pt x="56326" y="0"/>
                  </a:cubicBezTo>
                  <a:close/>
                </a:path>
              </a:pathLst>
            </a:custGeom>
            <a:solidFill>
              <a:srgbClr val="BDDEE8">
                <a:alpha val="29804"/>
              </a:srgbClr>
            </a:solidFill>
          </p:spPr>
        </p:sp>
        <p:sp>
          <p:nvSpPr>
            <p:cNvPr id="52" name="TextBox 52"/>
            <p:cNvSpPr txBox="1"/>
            <p:nvPr/>
          </p:nvSpPr>
          <p:spPr>
            <a:xfrm>
              <a:off x="0" y="-38100"/>
              <a:ext cx="3851477" cy="390537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sp>
        <p:nvSpPr>
          <p:cNvPr id="53" name="TextBox 53"/>
          <p:cNvSpPr txBox="1"/>
          <p:nvPr/>
        </p:nvSpPr>
        <p:spPr>
          <a:xfrm>
            <a:off x="674860" y="2752245"/>
            <a:ext cx="6599524" cy="6376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275"/>
              </a:lnSpc>
              <a:spcBef>
                <a:spcPct val="0"/>
              </a:spcBef>
            </a:pPr>
            <a:r>
              <a:rPr lang="en-US" sz="3770" b="1">
                <a:solidFill>
                  <a:srgbClr val="E8ECEC"/>
                </a:solidFill>
                <a:latin typeface="Merriweather Bold" panose="00000800000000000000"/>
                <a:ea typeface="Merriweather Bold" panose="00000800000000000000"/>
                <a:cs typeface="Merriweather Bold" panose="00000800000000000000"/>
                <a:sym typeface="Merriweather Bold" panose="00000800000000000000"/>
              </a:rPr>
              <a:t>Data Fusion Pipeline</a:t>
            </a:r>
            <a:endParaRPr lang="en-US" sz="3770" b="1">
              <a:solidFill>
                <a:srgbClr val="E8ECEC"/>
              </a:solidFill>
              <a:latin typeface="Merriweather Bold" panose="00000800000000000000"/>
              <a:ea typeface="Merriweather Bold" panose="00000800000000000000"/>
              <a:cs typeface="Merriweather Bold" panose="00000800000000000000"/>
              <a:sym typeface="Merriweather Bold" panose="00000800000000000000"/>
            </a:endParaRPr>
          </a:p>
        </p:txBody>
      </p:sp>
      <p:sp>
        <p:nvSpPr>
          <p:cNvPr id="54" name="TextBox 54"/>
          <p:cNvSpPr txBox="1"/>
          <p:nvPr/>
        </p:nvSpPr>
        <p:spPr>
          <a:xfrm>
            <a:off x="787263" y="3580117"/>
            <a:ext cx="6294309" cy="56880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50"/>
              </a:lnSpc>
            </a:pPr>
            <a:r>
              <a:rPr lang="en-US" sz="3570">
                <a:solidFill>
                  <a:srgbClr val="EEDBE9"/>
                </a:solidFill>
                <a:latin typeface="Kabel" panose="020D0402020204020903"/>
                <a:ea typeface="Kabel" panose="020D0402020204020903"/>
                <a:cs typeface="Kabel" panose="020D0402020204020903"/>
                <a:sym typeface="Kabel" panose="020D0402020204020903"/>
              </a:rPr>
              <a:t>Ra</a:t>
            </a:r>
            <a:r>
              <a:rPr lang="en-US" sz="3570">
                <a:solidFill>
                  <a:srgbClr val="EEDBE9"/>
                </a:solidFill>
                <a:latin typeface="Kabel" panose="020D0402020204020903"/>
                <a:ea typeface="Kabel" panose="020D0402020204020903"/>
                <a:cs typeface="Kabel" panose="020D0402020204020903"/>
                <a:sym typeface="Kabel" panose="020D0402020204020903"/>
              </a:rPr>
              <a:t>ther than using datasets independently, the system combines them into one Merged Aviation Intelligence Dataset</a:t>
            </a:r>
            <a:endParaRPr lang="en-US" sz="3570">
              <a:solidFill>
                <a:srgbClr val="EEDBE9"/>
              </a:solidFill>
              <a:latin typeface="Kabel" panose="020D0402020204020903"/>
              <a:ea typeface="Kabel" panose="020D0402020204020903"/>
              <a:cs typeface="Kabel" panose="020D0402020204020903"/>
              <a:sym typeface="Kabel" panose="020D0402020204020903"/>
            </a:endParaRPr>
          </a:p>
          <a:p>
            <a:pPr algn="l">
              <a:lnSpc>
                <a:spcPts val="3750"/>
              </a:lnSpc>
            </a:pPr>
          </a:p>
          <a:p>
            <a:pPr algn="l">
              <a:lnSpc>
                <a:spcPts val="3750"/>
              </a:lnSpc>
            </a:pPr>
            <a:r>
              <a:rPr lang="en-US" sz="3570">
                <a:solidFill>
                  <a:srgbClr val="EEDBE9"/>
                </a:solidFill>
                <a:latin typeface="Kabel" panose="020D0402020204020903"/>
                <a:ea typeface="Kabel" panose="020D0402020204020903"/>
                <a:cs typeface="Kabel" panose="020D0402020204020903"/>
                <a:sym typeface="Kabel" panose="020D0402020204020903"/>
              </a:rPr>
              <a:t>+ OpenSky Trajectories</a:t>
            </a:r>
            <a:endParaRPr lang="en-US" sz="3570">
              <a:solidFill>
                <a:srgbClr val="EEDBE9"/>
              </a:solidFill>
              <a:latin typeface="Kabel" panose="020D0402020204020903"/>
              <a:ea typeface="Kabel" panose="020D0402020204020903"/>
              <a:cs typeface="Kabel" panose="020D0402020204020903"/>
              <a:sym typeface="Kabel" panose="020D0402020204020903"/>
            </a:endParaRPr>
          </a:p>
          <a:p>
            <a:pPr algn="l">
              <a:lnSpc>
                <a:spcPts val="3750"/>
              </a:lnSpc>
            </a:pPr>
            <a:r>
              <a:rPr lang="en-US" sz="3570">
                <a:solidFill>
                  <a:srgbClr val="EEDBE9"/>
                </a:solidFill>
                <a:latin typeface="Kabel" panose="020D0402020204020903"/>
                <a:ea typeface="Kabel" panose="020D0402020204020903"/>
                <a:cs typeface="Kabel" panose="020D0402020204020903"/>
                <a:sym typeface="Kabel" panose="020D0402020204020903"/>
              </a:rPr>
              <a:t>+ Aircraft Metadata</a:t>
            </a:r>
            <a:endParaRPr lang="en-US" sz="3570">
              <a:solidFill>
                <a:srgbClr val="EEDBE9"/>
              </a:solidFill>
              <a:latin typeface="Kabel" panose="020D0402020204020903"/>
              <a:ea typeface="Kabel" panose="020D0402020204020903"/>
              <a:cs typeface="Kabel" panose="020D0402020204020903"/>
              <a:sym typeface="Kabel" panose="020D0402020204020903"/>
            </a:endParaRPr>
          </a:p>
          <a:p>
            <a:pPr algn="l">
              <a:lnSpc>
                <a:spcPts val="3750"/>
              </a:lnSpc>
            </a:pPr>
            <a:r>
              <a:rPr lang="en-US" sz="3570">
                <a:solidFill>
                  <a:srgbClr val="EEDBE9"/>
                </a:solidFill>
                <a:latin typeface="Kabel" panose="020D0402020204020903"/>
                <a:ea typeface="Kabel" panose="020D0402020204020903"/>
                <a:cs typeface="Kabel" panose="020D0402020204020903"/>
                <a:sym typeface="Kabel" panose="020D0402020204020903"/>
              </a:rPr>
              <a:t>+ Amelia Surface Operations</a:t>
            </a:r>
            <a:endParaRPr lang="en-US" sz="3570">
              <a:solidFill>
                <a:srgbClr val="EEDBE9"/>
              </a:solidFill>
              <a:latin typeface="Kabel" panose="020D0402020204020903"/>
              <a:ea typeface="Kabel" panose="020D0402020204020903"/>
              <a:cs typeface="Kabel" panose="020D0402020204020903"/>
              <a:sym typeface="Kabel" panose="020D0402020204020903"/>
            </a:endParaRPr>
          </a:p>
          <a:p>
            <a:pPr algn="l">
              <a:lnSpc>
                <a:spcPts val="3750"/>
              </a:lnSpc>
            </a:pPr>
            <a:r>
              <a:rPr lang="en-US" sz="3570">
                <a:solidFill>
                  <a:srgbClr val="EEDBE9"/>
                </a:solidFill>
                <a:latin typeface="Kabel" panose="020D0402020204020903"/>
                <a:ea typeface="Kabel" panose="020D0402020204020903"/>
                <a:cs typeface="Kabel" panose="020D0402020204020903"/>
                <a:sym typeface="Kabel" panose="020D0402020204020903"/>
              </a:rPr>
              <a:t>+ Historical Delay Data</a:t>
            </a:r>
            <a:endParaRPr lang="en-US" sz="3570">
              <a:solidFill>
                <a:srgbClr val="EEDBE9"/>
              </a:solidFill>
              <a:latin typeface="Kabel" panose="020D0402020204020903"/>
              <a:ea typeface="Kabel" panose="020D0402020204020903"/>
              <a:cs typeface="Kabel" panose="020D0402020204020903"/>
              <a:sym typeface="Kabel" panose="020D0402020204020903"/>
            </a:endParaRPr>
          </a:p>
          <a:p>
            <a:pPr algn="l">
              <a:lnSpc>
                <a:spcPts val="3750"/>
              </a:lnSpc>
            </a:pPr>
            <a:r>
              <a:rPr lang="en-US" sz="3570">
                <a:solidFill>
                  <a:srgbClr val="EEDBE9"/>
                </a:solidFill>
                <a:latin typeface="Kabel" panose="020D0402020204020903"/>
                <a:ea typeface="Kabel" panose="020D0402020204020903"/>
                <a:cs typeface="Kabel" panose="020D0402020204020903"/>
                <a:sym typeface="Kabel" panose="020D0402020204020903"/>
              </a:rPr>
              <a:t>↓</a:t>
            </a:r>
            <a:endParaRPr lang="en-US" sz="3570">
              <a:solidFill>
                <a:srgbClr val="EEDBE9"/>
              </a:solidFill>
              <a:latin typeface="Kabel" panose="020D0402020204020903"/>
              <a:ea typeface="Kabel" panose="020D0402020204020903"/>
              <a:cs typeface="Kabel" panose="020D0402020204020903"/>
              <a:sym typeface="Kabel" panose="020D0402020204020903"/>
            </a:endParaRPr>
          </a:p>
          <a:p>
            <a:pPr algn="l">
              <a:lnSpc>
                <a:spcPts val="3750"/>
              </a:lnSpc>
            </a:pPr>
            <a:r>
              <a:rPr lang="en-US" sz="3570">
                <a:solidFill>
                  <a:srgbClr val="EEDBE9"/>
                </a:solidFill>
                <a:latin typeface="Kabel" panose="020D0402020204020903"/>
                <a:ea typeface="Kabel" panose="020D0402020204020903"/>
                <a:cs typeface="Kabel" panose="020D0402020204020903"/>
                <a:sym typeface="Kabel" panose="020D0402020204020903"/>
              </a:rPr>
              <a:t>Merged Aviation Intelligence Dataset</a:t>
            </a:r>
            <a:endParaRPr lang="en-US" sz="3570">
              <a:solidFill>
                <a:srgbClr val="EEDBE9"/>
              </a:solidFill>
              <a:latin typeface="Kabel" panose="020D0402020204020903"/>
              <a:ea typeface="Kabel" panose="020D0402020204020903"/>
              <a:cs typeface="Kabel" panose="020D0402020204020903"/>
              <a:sym typeface="Kabel" panose="020D0402020204020903"/>
            </a:endParaRPr>
          </a:p>
          <a:p>
            <a:pPr algn="l">
              <a:lnSpc>
                <a:spcPts val="3750"/>
              </a:lnSpc>
            </a:pPr>
            <a:r>
              <a:rPr lang="en-US" sz="3570">
                <a:solidFill>
                  <a:srgbClr val="EEDBE9"/>
                </a:solidFill>
                <a:latin typeface="Kabel" panose="020D0402020204020903"/>
                <a:ea typeface="Kabel" panose="020D0402020204020903"/>
                <a:cs typeface="Kabel" panose="020D0402020204020903"/>
                <a:sym typeface="Kabel" panose="020D0402020204020903"/>
              </a:rPr>
              <a:t>↓</a:t>
            </a:r>
            <a:endParaRPr lang="en-US" sz="3570">
              <a:solidFill>
                <a:srgbClr val="EEDBE9"/>
              </a:solidFill>
              <a:latin typeface="Kabel" panose="020D0402020204020903"/>
              <a:ea typeface="Kabel" panose="020D0402020204020903"/>
              <a:cs typeface="Kabel" panose="020D0402020204020903"/>
              <a:sym typeface="Kabel" panose="020D0402020204020903"/>
            </a:endParaRPr>
          </a:p>
          <a:p>
            <a:pPr algn="l">
              <a:lnSpc>
                <a:spcPts val="3750"/>
              </a:lnSpc>
            </a:pPr>
            <a:r>
              <a:rPr lang="en-US" sz="3570">
                <a:solidFill>
                  <a:srgbClr val="EEDBE9"/>
                </a:solidFill>
                <a:latin typeface="Kabel" panose="020D0402020204020903"/>
                <a:ea typeface="Kabel" panose="020D0402020204020903"/>
                <a:cs typeface="Kabel" panose="020D0402020204020903"/>
                <a:sym typeface="Kabel" panose="020D0402020204020903"/>
              </a:rPr>
              <a:t>ML Models + C++ Scheduling Engine</a:t>
            </a:r>
            <a:endParaRPr lang="en-US" sz="3570">
              <a:solidFill>
                <a:srgbClr val="EEDBE9"/>
              </a:solidFill>
              <a:latin typeface="Kabel" panose="020D0402020204020903"/>
              <a:ea typeface="Kabel" panose="020D0402020204020903"/>
              <a:cs typeface="Kabel" panose="020D0402020204020903"/>
              <a:sym typeface="Kabel" panose="020D0402020204020903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2F5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632230" y="297824"/>
            <a:ext cx="8929065" cy="10525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660"/>
              </a:lnSpc>
            </a:pPr>
            <a:r>
              <a:rPr lang="en-US" sz="6185" b="1">
                <a:solidFill>
                  <a:srgbClr val="FFFFFF"/>
                </a:solidFill>
                <a:latin typeface="Loubag Bold" panose="02020A03060303060403"/>
                <a:ea typeface="Loubag Bold" panose="02020A03060303060403"/>
                <a:cs typeface="Loubag Bold" panose="02020A03060303060403"/>
                <a:sym typeface="Loubag Bold" panose="02020A03060303060403"/>
              </a:rPr>
              <a:t>Scope &amp; Limitations</a:t>
            </a:r>
            <a:endParaRPr lang="en-US" sz="6185" b="1">
              <a:solidFill>
                <a:srgbClr val="FFFFFF"/>
              </a:solidFill>
              <a:latin typeface="Loubag Bold" panose="02020A03060303060403"/>
              <a:ea typeface="Loubag Bold" panose="02020A03060303060403"/>
              <a:cs typeface="Loubag Bold" panose="02020A03060303060403"/>
              <a:sym typeface="Loubag Bold" panose="02020A03060303060403"/>
            </a:endParaRPr>
          </a:p>
        </p:txBody>
      </p:sp>
      <p:sp>
        <p:nvSpPr>
          <p:cNvPr id="3" name="Freeform 3"/>
          <p:cNvSpPr/>
          <p:nvPr/>
        </p:nvSpPr>
        <p:spPr>
          <a:xfrm>
            <a:off x="14532846" y="305705"/>
            <a:ext cx="3027531" cy="1219601"/>
          </a:xfrm>
          <a:custGeom>
            <a:avLst/>
            <a:gdLst/>
            <a:ahLst/>
            <a:cxnLst/>
            <a:rect l="l" t="t" r="r" b="b"/>
            <a:pathLst>
              <a:path w="3027531" h="1219601">
                <a:moveTo>
                  <a:pt x="0" y="0"/>
                </a:moveTo>
                <a:lnTo>
                  <a:pt x="3027530" y="0"/>
                </a:lnTo>
                <a:lnTo>
                  <a:pt x="3027530" y="1219601"/>
                </a:lnTo>
                <a:lnTo>
                  <a:pt x="0" y="1219601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628481" y="305705"/>
            <a:ext cx="3027531" cy="1219601"/>
          </a:xfrm>
          <a:custGeom>
            <a:avLst/>
            <a:gdLst/>
            <a:ahLst/>
            <a:cxnLst/>
            <a:rect l="l" t="t" r="r" b="b"/>
            <a:pathLst>
              <a:path w="3027531" h="1219601">
                <a:moveTo>
                  <a:pt x="0" y="0"/>
                </a:moveTo>
                <a:lnTo>
                  <a:pt x="3027531" y="0"/>
                </a:lnTo>
                <a:lnTo>
                  <a:pt x="3027531" y="1219601"/>
                </a:lnTo>
                <a:lnTo>
                  <a:pt x="0" y="1219601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/>
            </a:stretch>
          </a:blipFill>
        </p:spPr>
      </p:sp>
      <p:grpSp>
        <p:nvGrpSpPr>
          <p:cNvPr id="5" name="Group 5"/>
          <p:cNvGrpSpPr/>
          <p:nvPr/>
        </p:nvGrpSpPr>
        <p:grpSpPr>
          <a:xfrm rot="5400000">
            <a:off x="1087861" y="1673615"/>
            <a:ext cx="7298289" cy="7871080"/>
            <a:chOff x="0" y="0"/>
            <a:chExt cx="4009960" cy="4324674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4009961" cy="4324674"/>
            </a:xfrm>
            <a:custGeom>
              <a:avLst/>
              <a:gdLst/>
              <a:ahLst/>
              <a:cxnLst/>
              <a:rect l="l" t="t" r="r" b="b"/>
              <a:pathLst>
                <a:path w="4009961" h="4324674">
                  <a:moveTo>
                    <a:pt x="54100" y="0"/>
                  </a:moveTo>
                  <a:lnTo>
                    <a:pt x="3955860" y="0"/>
                  </a:lnTo>
                  <a:cubicBezTo>
                    <a:pt x="3970209" y="0"/>
                    <a:pt x="3983969" y="5700"/>
                    <a:pt x="3994115" y="15846"/>
                  </a:cubicBezTo>
                  <a:cubicBezTo>
                    <a:pt x="4004261" y="25991"/>
                    <a:pt x="4009961" y="39752"/>
                    <a:pt x="4009961" y="54100"/>
                  </a:cubicBezTo>
                  <a:lnTo>
                    <a:pt x="4009961" y="4270574"/>
                  </a:lnTo>
                  <a:cubicBezTo>
                    <a:pt x="4009961" y="4284922"/>
                    <a:pt x="4004261" y="4298683"/>
                    <a:pt x="3994115" y="4308828"/>
                  </a:cubicBezTo>
                  <a:cubicBezTo>
                    <a:pt x="3983969" y="4318974"/>
                    <a:pt x="3970209" y="4324674"/>
                    <a:pt x="3955860" y="4324674"/>
                  </a:cubicBezTo>
                  <a:lnTo>
                    <a:pt x="54100" y="4324674"/>
                  </a:lnTo>
                  <a:cubicBezTo>
                    <a:pt x="39752" y="4324674"/>
                    <a:pt x="25991" y="4318974"/>
                    <a:pt x="15846" y="4308828"/>
                  </a:cubicBezTo>
                  <a:cubicBezTo>
                    <a:pt x="5700" y="4298683"/>
                    <a:pt x="0" y="4284922"/>
                    <a:pt x="0" y="4270574"/>
                  </a:cubicBezTo>
                  <a:lnTo>
                    <a:pt x="0" y="54100"/>
                  </a:lnTo>
                  <a:cubicBezTo>
                    <a:pt x="0" y="39752"/>
                    <a:pt x="5700" y="25991"/>
                    <a:pt x="15846" y="15846"/>
                  </a:cubicBezTo>
                  <a:cubicBezTo>
                    <a:pt x="25991" y="5700"/>
                    <a:pt x="39752" y="0"/>
                    <a:pt x="54100" y="0"/>
                  </a:cubicBezTo>
                  <a:close/>
                </a:path>
              </a:pathLst>
            </a:custGeom>
            <a:solidFill>
              <a:srgbClr val="BDDEE8">
                <a:alpha val="29804"/>
              </a:srgbClr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4009960" cy="436277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id="8" name="Group 8"/>
          <p:cNvGrpSpPr/>
          <p:nvPr/>
        </p:nvGrpSpPr>
        <p:grpSpPr>
          <a:xfrm rot="5400000">
            <a:off x="9874051" y="1673615"/>
            <a:ext cx="7298289" cy="7871080"/>
            <a:chOff x="0" y="0"/>
            <a:chExt cx="4009960" cy="4324674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4009961" cy="4324674"/>
            </a:xfrm>
            <a:custGeom>
              <a:avLst/>
              <a:gdLst/>
              <a:ahLst/>
              <a:cxnLst/>
              <a:rect l="l" t="t" r="r" b="b"/>
              <a:pathLst>
                <a:path w="4009961" h="4324674">
                  <a:moveTo>
                    <a:pt x="54100" y="0"/>
                  </a:moveTo>
                  <a:lnTo>
                    <a:pt x="3955860" y="0"/>
                  </a:lnTo>
                  <a:cubicBezTo>
                    <a:pt x="3970209" y="0"/>
                    <a:pt x="3983969" y="5700"/>
                    <a:pt x="3994115" y="15846"/>
                  </a:cubicBezTo>
                  <a:cubicBezTo>
                    <a:pt x="4004261" y="25991"/>
                    <a:pt x="4009961" y="39752"/>
                    <a:pt x="4009961" y="54100"/>
                  </a:cubicBezTo>
                  <a:lnTo>
                    <a:pt x="4009961" y="4270574"/>
                  </a:lnTo>
                  <a:cubicBezTo>
                    <a:pt x="4009961" y="4284922"/>
                    <a:pt x="4004261" y="4298683"/>
                    <a:pt x="3994115" y="4308828"/>
                  </a:cubicBezTo>
                  <a:cubicBezTo>
                    <a:pt x="3983969" y="4318974"/>
                    <a:pt x="3970209" y="4324674"/>
                    <a:pt x="3955860" y="4324674"/>
                  </a:cubicBezTo>
                  <a:lnTo>
                    <a:pt x="54100" y="4324674"/>
                  </a:lnTo>
                  <a:cubicBezTo>
                    <a:pt x="39752" y="4324674"/>
                    <a:pt x="25991" y="4318974"/>
                    <a:pt x="15846" y="4308828"/>
                  </a:cubicBezTo>
                  <a:cubicBezTo>
                    <a:pt x="5700" y="4298683"/>
                    <a:pt x="0" y="4284922"/>
                    <a:pt x="0" y="4270574"/>
                  </a:cubicBezTo>
                  <a:lnTo>
                    <a:pt x="0" y="54100"/>
                  </a:lnTo>
                  <a:cubicBezTo>
                    <a:pt x="0" y="39752"/>
                    <a:pt x="5700" y="25991"/>
                    <a:pt x="15846" y="15846"/>
                  </a:cubicBezTo>
                  <a:cubicBezTo>
                    <a:pt x="25991" y="5700"/>
                    <a:pt x="39752" y="0"/>
                    <a:pt x="54100" y="0"/>
                  </a:cubicBezTo>
                  <a:close/>
                </a:path>
              </a:pathLst>
            </a:custGeom>
            <a:solidFill>
              <a:srgbClr val="BDDEE8">
                <a:alpha val="29804"/>
              </a:srgbClr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4009960" cy="436277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10163803" y="2256070"/>
            <a:ext cx="4186036" cy="6212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135"/>
              </a:lnSpc>
              <a:spcBef>
                <a:spcPct val="0"/>
              </a:spcBef>
            </a:pPr>
            <a:r>
              <a:rPr lang="en-US" sz="3670" b="1">
                <a:solidFill>
                  <a:srgbClr val="FFFFFF"/>
                </a:solidFill>
                <a:latin typeface="Merriweather Bold" panose="00000800000000000000"/>
                <a:ea typeface="Merriweather Bold" panose="00000800000000000000"/>
                <a:cs typeface="Merriweather Bold" panose="00000800000000000000"/>
                <a:sym typeface="Merriweather Bold" panose="00000800000000000000"/>
              </a:rPr>
              <a:t>Limitations</a:t>
            </a:r>
            <a:endParaRPr lang="en-US" sz="3670" b="1">
              <a:solidFill>
                <a:srgbClr val="FFFFFF"/>
              </a:solidFill>
              <a:latin typeface="Merriweather Bold" panose="00000800000000000000"/>
              <a:ea typeface="Merriweather Bold" panose="00000800000000000000"/>
              <a:cs typeface="Merriweather Bold" panose="00000800000000000000"/>
              <a:sym typeface="Merriweather Bold" panose="00000800000000000000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1316281" y="2256070"/>
            <a:ext cx="6822399" cy="6212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135"/>
              </a:lnSpc>
              <a:spcBef>
                <a:spcPct val="0"/>
              </a:spcBef>
            </a:pPr>
            <a:r>
              <a:rPr lang="en-US" sz="3670" b="1">
                <a:solidFill>
                  <a:srgbClr val="FFFFFF"/>
                </a:solidFill>
                <a:latin typeface="Merriweather Bold" panose="00000800000000000000"/>
                <a:ea typeface="Merriweather Bold" panose="00000800000000000000"/>
                <a:cs typeface="Merriweather Bold" panose="00000800000000000000"/>
                <a:sym typeface="Merriweather Bold" panose="00000800000000000000"/>
              </a:rPr>
              <a:t>Immediate &amp; Future Scope</a:t>
            </a:r>
            <a:endParaRPr lang="en-US" sz="3670" b="1">
              <a:solidFill>
                <a:srgbClr val="FFFFFF"/>
              </a:solidFill>
              <a:latin typeface="Merriweather Bold" panose="00000800000000000000"/>
              <a:ea typeface="Merriweather Bold" panose="00000800000000000000"/>
              <a:cs typeface="Merriweather Bold" panose="00000800000000000000"/>
              <a:sym typeface="Merriweather Bold" panose="00000800000000000000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801465" y="3357896"/>
            <a:ext cx="7564657" cy="60779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881380" lvl="1" indent="-440690" algn="l">
              <a:lnSpc>
                <a:spcPts val="4285"/>
              </a:lnSpc>
              <a:buFont typeface="Arial" panose="020B0604020202020204"/>
              <a:buChar char="•"/>
            </a:pPr>
            <a:r>
              <a:rPr lang="en-US" sz="4080">
                <a:solidFill>
                  <a:srgbClr val="D1CEC9"/>
                </a:solidFill>
                <a:latin typeface="Kabel" panose="020D0402020204020903"/>
                <a:ea typeface="Kabel" panose="020D0402020204020903"/>
                <a:cs typeface="Kabel" panose="020D0402020204020903"/>
                <a:sym typeface="Kabel" panose="020D0402020204020903"/>
              </a:rPr>
              <a:t>Smart Single-Airport Runway Optimization</a:t>
            </a:r>
            <a:endParaRPr lang="en-US" sz="4080">
              <a:solidFill>
                <a:srgbClr val="D1CEC9"/>
              </a:solidFill>
              <a:latin typeface="Kabel" panose="020D0402020204020903"/>
              <a:ea typeface="Kabel" panose="020D0402020204020903"/>
              <a:cs typeface="Kabel" panose="020D0402020204020903"/>
              <a:sym typeface="Kabel" panose="020D0402020204020903"/>
            </a:endParaRPr>
          </a:p>
          <a:p>
            <a:pPr algn="l">
              <a:lnSpc>
                <a:spcPts val="4285"/>
              </a:lnSpc>
            </a:pPr>
          </a:p>
          <a:p>
            <a:pPr marL="881380" lvl="1" indent="-440690" algn="l">
              <a:lnSpc>
                <a:spcPts val="4285"/>
              </a:lnSpc>
              <a:buFont typeface="Arial" panose="020B0604020202020204"/>
              <a:buChar char="•"/>
            </a:pPr>
            <a:r>
              <a:rPr lang="en-US" sz="4080">
                <a:solidFill>
                  <a:srgbClr val="D1CEC9"/>
                </a:solidFill>
                <a:latin typeface="Kabel" panose="020D0402020204020903"/>
                <a:ea typeface="Kabel" panose="020D0402020204020903"/>
                <a:cs typeface="Kabel" panose="020D0402020204020903"/>
                <a:sym typeface="Kabel" panose="020D0402020204020903"/>
              </a:rPr>
              <a:t>Real-Time Intelligent Scheduling</a:t>
            </a:r>
            <a:endParaRPr lang="en-US" sz="4080">
              <a:solidFill>
                <a:srgbClr val="D1CEC9"/>
              </a:solidFill>
              <a:latin typeface="Kabel" panose="020D0402020204020903"/>
              <a:ea typeface="Kabel" panose="020D0402020204020903"/>
              <a:cs typeface="Kabel" panose="020D0402020204020903"/>
              <a:sym typeface="Kabel" panose="020D0402020204020903"/>
            </a:endParaRPr>
          </a:p>
          <a:p>
            <a:pPr algn="l">
              <a:lnSpc>
                <a:spcPts val="4285"/>
              </a:lnSpc>
            </a:pPr>
          </a:p>
          <a:p>
            <a:pPr marL="881380" lvl="1" indent="-440690" algn="l">
              <a:lnSpc>
                <a:spcPts val="4285"/>
              </a:lnSpc>
              <a:buFont typeface="Arial" panose="020B0604020202020204"/>
              <a:buChar char="•"/>
            </a:pPr>
            <a:r>
              <a:rPr lang="en-US" sz="4080">
                <a:solidFill>
                  <a:srgbClr val="D1CEC9"/>
                </a:solidFill>
                <a:latin typeface="Kabel" panose="020D0402020204020903"/>
                <a:ea typeface="Kabel" panose="020D0402020204020903"/>
                <a:cs typeface="Kabel" panose="020D0402020204020903"/>
                <a:sym typeface="Kabel" panose="020D0402020204020903"/>
              </a:rPr>
              <a:t>Delay Prediction &amp; Decision Support</a:t>
            </a:r>
            <a:endParaRPr lang="en-US" sz="4080">
              <a:solidFill>
                <a:srgbClr val="D1CEC9"/>
              </a:solidFill>
              <a:latin typeface="Kabel" panose="020D0402020204020903"/>
              <a:ea typeface="Kabel" panose="020D0402020204020903"/>
              <a:cs typeface="Kabel" panose="020D0402020204020903"/>
              <a:sym typeface="Kabel" panose="020D0402020204020903"/>
            </a:endParaRPr>
          </a:p>
          <a:p>
            <a:pPr algn="l">
              <a:lnSpc>
                <a:spcPts val="4285"/>
              </a:lnSpc>
            </a:pPr>
          </a:p>
          <a:p>
            <a:pPr marL="881380" lvl="1" indent="-440690" algn="l">
              <a:lnSpc>
                <a:spcPts val="4285"/>
              </a:lnSpc>
              <a:buFont typeface="Arial" panose="020B0604020202020204"/>
              <a:buChar char="•"/>
            </a:pPr>
            <a:r>
              <a:rPr lang="en-US" sz="4080">
                <a:solidFill>
                  <a:srgbClr val="D1CEC9"/>
                </a:solidFill>
                <a:latin typeface="Kabel" panose="020D0402020204020903"/>
                <a:ea typeface="Kabel" panose="020D0402020204020903"/>
                <a:cs typeface="Kabel" panose="020D0402020204020903"/>
                <a:sym typeface="Kabel" panose="020D0402020204020903"/>
              </a:rPr>
              <a:t>Multi-Airport Network Scheduling</a:t>
            </a:r>
            <a:endParaRPr lang="en-US" sz="4080">
              <a:solidFill>
                <a:srgbClr val="D1CEC9"/>
              </a:solidFill>
              <a:latin typeface="Kabel" panose="020D0402020204020903"/>
              <a:ea typeface="Kabel" panose="020D0402020204020903"/>
              <a:cs typeface="Kabel" panose="020D0402020204020903"/>
              <a:sym typeface="Kabel" panose="020D0402020204020903"/>
            </a:endParaRPr>
          </a:p>
          <a:p>
            <a:pPr algn="l">
              <a:lnSpc>
                <a:spcPts val="4285"/>
              </a:lnSpc>
            </a:pPr>
          </a:p>
          <a:p>
            <a:pPr marL="881380" lvl="1" indent="-440690" algn="l">
              <a:lnSpc>
                <a:spcPts val="4285"/>
              </a:lnSpc>
              <a:buFont typeface="Arial" panose="020B0604020202020204"/>
              <a:buChar char="•"/>
            </a:pPr>
            <a:r>
              <a:rPr lang="en-US" sz="4080">
                <a:solidFill>
                  <a:srgbClr val="D1CEC9"/>
                </a:solidFill>
                <a:latin typeface="Kabel" panose="020D0402020204020903"/>
                <a:ea typeface="Kabel" panose="020D0402020204020903"/>
                <a:cs typeface="Kabel" panose="020D0402020204020903"/>
                <a:sym typeface="Kabel" panose="020D0402020204020903"/>
              </a:rPr>
              <a:t>Digital Twin Expansion</a:t>
            </a:r>
            <a:endParaRPr lang="en-US" sz="4080">
              <a:solidFill>
                <a:srgbClr val="D1CEC9"/>
              </a:solidFill>
              <a:latin typeface="Kabel" panose="020D0402020204020903"/>
              <a:ea typeface="Kabel" panose="020D0402020204020903"/>
              <a:cs typeface="Kabel" panose="020D0402020204020903"/>
              <a:sym typeface="Kabel" panose="020D0402020204020903"/>
            </a:endParaRPr>
          </a:p>
          <a:p>
            <a:pPr algn="l">
              <a:lnSpc>
                <a:spcPts val="4285"/>
              </a:lnSpc>
            </a:pPr>
          </a:p>
        </p:txBody>
      </p:sp>
      <p:sp>
        <p:nvSpPr>
          <p:cNvPr id="14" name="TextBox 14"/>
          <p:cNvSpPr txBox="1"/>
          <p:nvPr/>
        </p:nvSpPr>
        <p:spPr>
          <a:xfrm>
            <a:off x="9699626" y="3175974"/>
            <a:ext cx="7647139" cy="39064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881380" lvl="1" indent="-440690" algn="l">
              <a:lnSpc>
                <a:spcPts val="4285"/>
              </a:lnSpc>
              <a:buFont typeface="Arial" panose="020B0604020202020204"/>
              <a:buChar char="•"/>
            </a:pPr>
            <a:r>
              <a:rPr lang="en-US" sz="4080">
                <a:solidFill>
                  <a:srgbClr val="D1CEC9"/>
                </a:solidFill>
                <a:latin typeface="Kabel" panose="020D0402020204020903"/>
                <a:ea typeface="Kabel" panose="020D0402020204020903"/>
                <a:cs typeface="Kabel" panose="020D0402020204020903"/>
                <a:sym typeface="Kabel" panose="020D0402020204020903"/>
              </a:rPr>
              <a:t>Single-Airport Focus</a:t>
            </a:r>
            <a:endParaRPr lang="en-US" sz="4080">
              <a:solidFill>
                <a:srgbClr val="D1CEC9"/>
              </a:solidFill>
              <a:latin typeface="Kabel" panose="020D0402020204020903"/>
              <a:ea typeface="Kabel" panose="020D0402020204020903"/>
              <a:cs typeface="Kabel" panose="020D0402020204020903"/>
              <a:sym typeface="Kabel" panose="020D0402020204020903"/>
            </a:endParaRPr>
          </a:p>
          <a:p>
            <a:pPr algn="l">
              <a:lnSpc>
                <a:spcPts val="4285"/>
              </a:lnSpc>
            </a:pPr>
          </a:p>
          <a:p>
            <a:pPr marL="881380" lvl="1" indent="-440690" algn="l">
              <a:lnSpc>
                <a:spcPts val="4285"/>
              </a:lnSpc>
              <a:buFont typeface="Arial" panose="020B0604020202020204"/>
              <a:buChar char="•"/>
            </a:pPr>
            <a:r>
              <a:rPr lang="en-US" sz="4080">
                <a:solidFill>
                  <a:srgbClr val="D1CEC9"/>
                </a:solidFill>
                <a:latin typeface="Kabel" panose="020D0402020204020903"/>
                <a:ea typeface="Kabel" panose="020D0402020204020903"/>
                <a:cs typeface="Kabel" panose="020D0402020204020903"/>
                <a:sym typeface="Kabel" panose="020D0402020204020903"/>
              </a:rPr>
              <a:t>ML</a:t>
            </a:r>
            <a:r>
              <a:rPr lang="en-US" sz="4080">
                <a:solidFill>
                  <a:srgbClr val="D1CEC9"/>
                </a:solidFill>
                <a:latin typeface="Kabel" panose="020D0402020204020903"/>
                <a:ea typeface="Kabel" panose="020D0402020204020903"/>
                <a:cs typeface="Kabel" panose="020D0402020204020903"/>
                <a:sym typeface="Kabel" panose="020D0402020204020903"/>
              </a:rPr>
              <a:t> Accuracy Depends on Data Quality</a:t>
            </a:r>
            <a:endParaRPr lang="en-US" sz="4080">
              <a:solidFill>
                <a:srgbClr val="D1CEC9"/>
              </a:solidFill>
              <a:latin typeface="Kabel" panose="020D0402020204020903"/>
              <a:ea typeface="Kabel" panose="020D0402020204020903"/>
              <a:cs typeface="Kabel" panose="020D0402020204020903"/>
              <a:sym typeface="Kabel" panose="020D0402020204020903"/>
            </a:endParaRPr>
          </a:p>
          <a:p>
            <a:pPr algn="l">
              <a:lnSpc>
                <a:spcPts val="4285"/>
              </a:lnSpc>
            </a:pPr>
          </a:p>
          <a:p>
            <a:pPr marL="881380" lvl="1" indent="-440690" algn="l">
              <a:lnSpc>
                <a:spcPts val="4285"/>
              </a:lnSpc>
              <a:buFont typeface="Arial" panose="020B0604020202020204"/>
              <a:buChar char="•"/>
            </a:pPr>
            <a:r>
              <a:rPr lang="en-US" sz="4080">
                <a:solidFill>
                  <a:srgbClr val="D1CEC9"/>
                </a:solidFill>
                <a:latin typeface="Kabel" panose="020D0402020204020903"/>
                <a:ea typeface="Kabel" panose="020D0402020204020903"/>
                <a:cs typeface="Kabel" panose="020D0402020204020903"/>
                <a:sym typeface="Kabel" panose="020D0402020204020903"/>
              </a:rPr>
              <a:t>P</a:t>
            </a:r>
            <a:r>
              <a:rPr lang="en-US" sz="4080">
                <a:solidFill>
                  <a:srgbClr val="D1CEC9"/>
                </a:solidFill>
                <a:latin typeface="Kabel" panose="020D0402020204020903"/>
                <a:ea typeface="Kabel" panose="020D0402020204020903"/>
                <a:cs typeface="Kabel" panose="020D0402020204020903"/>
                <a:sym typeface="Kabel" panose="020D0402020204020903"/>
              </a:rPr>
              <a:t>rototype-Scale Dataset Usage</a:t>
            </a:r>
            <a:endParaRPr lang="en-US" sz="4080">
              <a:solidFill>
                <a:srgbClr val="D1CEC9"/>
              </a:solidFill>
              <a:latin typeface="Kabel" panose="020D0402020204020903"/>
              <a:ea typeface="Kabel" panose="020D0402020204020903"/>
              <a:cs typeface="Kabel" panose="020D0402020204020903"/>
              <a:sym typeface="Kabel" panose="020D0402020204020903"/>
            </a:endParaRPr>
          </a:p>
          <a:p>
            <a:pPr algn="l">
              <a:lnSpc>
                <a:spcPts val="4285"/>
              </a:lnSpc>
            </a:p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2F5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 flipV="1">
            <a:off x="-3908616" y="7939728"/>
            <a:ext cx="14395802" cy="2637144"/>
          </a:xfrm>
          <a:custGeom>
            <a:avLst/>
            <a:gdLst/>
            <a:ahLst/>
            <a:cxnLst/>
            <a:rect l="l" t="t" r="r" b="b"/>
            <a:pathLst>
              <a:path w="14395802" h="2637144">
                <a:moveTo>
                  <a:pt x="14395802" y="2637144"/>
                </a:moveTo>
                <a:lnTo>
                  <a:pt x="0" y="2637144"/>
                </a:lnTo>
                <a:lnTo>
                  <a:pt x="0" y="0"/>
                </a:lnTo>
                <a:lnTo>
                  <a:pt x="14395802" y="0"/>
                </a:lnTo>
                <a:lnTo>
                  <a:pt x="14395802" y="2637144"/>
                </a:lnTo>
                <a:close/>
              </a:path>
            </a:pathLst>
          </a:custGeom>
          <a:blipFill>
            <a:blip r:embed="rId1"/>
            <a:stretch>
              <a:fillRect t="-212064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7476475" y="7939728"/>
            <a:ext cx="4688719" cy="3792001"/>
          </a:xfrm>
          <a:custGeom>
            <a:avLst/>
            <a:gdLst/>
            <a:ahLst/>
            <a:cxnLst/>
            <a:rect l="l" t="t" r="r" b="b"/>
            <a:pathLst>
              <a:path w="4688719" h="3792001">
                <a:moveTo>
                  <a:pt x="0" y="0"/>
                </a:moveTo>
                <a:lnTo>
                  <a:pt x="4688719" y="0"/>
                </a:lnTo>
                <a:lnTo>
                  <a:pt x="4688719" y="3792001"/>
                </a:lnTo>
                <a:lnTo>
                  <a:pt x="0" y="379200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7476475" y="-2003656"/>
            <a:ext cx="14395802" cy="4583179"/>
          </a:xfrm>
          <a:custGeom>
            <a:avLst/>
            <a:gdLst/>
            <a:ahLst/>
            <a:cxnLst/>
            <a:rect l="l" t="t" r="r" b="b"/>
            <a:pathLst>
              <a:path w="14395802" h="4583179">
                <a:moveTo>
                  <a:pt x="0" y="0"/>
                </a:moveTo>
                <a:lnTo>
                  <a:pt x="14395802" y="0"/>
                </a:lnTo>
                <a:lnTo>
                  <a:pt x="14395802" y="4583179"/>
                </a:lnTo>
                <a:lnTo>
                  <a:pt x="0" y="4583179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 t="-79560"/>
            </a:stretch>
          </a:blipFill>
        </p:spPr>
      </p:sp>
      <p:sp>
        <p:nvSpPr>
          <p:cNvPr id="5" name="Freeform 5"/>
          <p:cNvSpPr/>
          <p:nvPr/>
        </p:nvSpPr>
        <p:spPr>
          <a:xfrm rot="-10800000" flipV="1">
            <a:off x="11788577" y="7356973"/>
            <a:ext cx="7691038" cy="3802655"/>
          </a:xfrm>
          <a:custGeom>
            <a:avLst/>
            <a:gdLst/>
            <a:ahLst/>
            <a:cxnLst/>
            <a:rect l="l" t="t" r="r" b="b"/>
            <a:pathLst>
              <a:path w="7691038" h="3802655">
                <a:moveTo>
                  <a:pt x="0" y="3802654"/>
                </a:moveTo>
                <a:lnTo>
                  <a:pt x="7691038" y="3802654"/>
                </a:lnTo>
                <a:lnTo>
                  <a:pt x="7691038" y="0"/>
                </a:lnTo>
                <a:lnTo>
                  <a:pt x="0" y="0"/>
                </a:lnTo>
                <a:lnTo>
                  <a:pt x="0" y="3802654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-1056717" y="287934"/>
            <a:ext cx="8692003" cy="3501459"/>
          </a:xfrm>
          <a:custGeom>
            <a:avLst/>
            <a:gdLst/>
            <a:ahLst/>
            <a:cxnLst/>
            <a:rect l="l" t="t" r="r" b="b"/>
            <a:pathLst>
              <a:path w="8692003" h="3501459">
                <a:moveTo>
                  <a:pt x="0" y="0"/>
                </a:moveTo>
                <a:lnTo>
                  <a:pt x="8692004" y="0"/>
                </a:lnTo>
                <a:lnTo>
                  <a:pt x="8692004" y="3501459"/>
                </a:lnTo>
                <a:lnTo>
                  <a:pt x="0" y="350145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4342101" y="4065100"/>
            <a:ext cx="9603798" cy="17085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975"/>
              </a:lnSpc>
            </a:pPr>
            <a:r>
              <a:rPr lang="en-US" sz="9985" b="1">
                <a:solidFill>
                  <a:srgbClr val="FFFFFF"/>
                </a:solidFill>
                <a:latin typeface="Loubag Bold" panose="02020A03060303060403"/>
                <a:ea typeface="Loubag Bold" panose="02020A03060303060403"/>
                <a:cs typeface="Loubag Bold" panose="02020A03060303060403"/>
                <a:sym typeface="Loubag Bold" panose="02020A03060303060403"/>
              </a:rPr>
              <a:t>Thank You</a:t>
            </a:r>
            <a:endParaRPr lang="en-US" sz="9985" b="1">
              <a:solidFill>
                <a:srgbClr val="FFFFFF"/>
              </a:solidFill>
              <a:latin typeface="Loubag Bold" panose="02020A03060303060403"/>
              <a:ea typeface="Loubag Bold" panose="02020A03060303060403"/>
              <a:cs typeface="Loubag Bold" panose="02020A03060303060403"/>
              <a:sym typeface="Loubag Bold" panose="02020A03060303060403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2817</Words>
  <Application>WPS Presentation</Application>
  <PresentationFormat>On-screen Show (4:3)</PresentationFormat>
  <Paragraphs>155</Paragraphs>
  <Slides>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22" baseType="lpstr">
      <vt:lpstr>Arial</vt:lpstr>
      <vt:lpstr>SimSun</vt:lpstr>
      <vt:lpstr>Wingdings</vt:lpstr>
      <vt:lpstr>Loubag Bold</vt:lpstr>
      <vt:lpstr>Kabel</vt:lpstr>
      <vt:lpstr>Kabel Ultra-Bold</vt:lpstr>
      <vt:lpstr>Merriweather Bold</vt:lpstr>
      <vt:lpstr>Merriweather</vt:lpstr>
      <vt:lpstr>Arial</vt:lpstr>
      <vt:lpstr>Microsoft YaHei</vt:lpstr>
      <vt:lpstr>Arial Unicode MS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Blue and Beige Illustrated Travel Presentation</dc:title>
  <dc:creator/>
  <cp:lastModifiedBy>Anushka Pise</cp:lastModifiedBy>
  <cp:revision>4</cp:revision>
  <dcterms:created xsi:type="dcterms:W3CDTF">2006-08-16T00:00:00Z</dcterms:created>
  <dcterms:modified xsi:type="dcterms:W3CDTF">2026-04-29T06:55:46Z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91F6FDE895A74F27A2FA8CF37CA446A5_12</vt:lpwstr>
  </property>
  <property fmtid="{D5CDD505-2E9C-101B-9397-08002B2CF9AE}" pid="3" name="KSOProductBuildVer">
    <vt:lpwstr>1033-12.2.0.23202</vt:lpwstr>
  </property>
</Properties>
</file>